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JetBrains Mono" panose="02000009000000000000" pitchFamily="49"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summarizes the Advanced VAPT report on OWASP Juice Shop — a locally hosted, deliberately vulnerable training application. Ten tests were run; two High-severity Broken Access Control issues were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Thank the audience and offer to walk through any finding in more depth, especially F-8 (the confirmed IDOR) which should drive the retest of F-6.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9979"/>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421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23719"/>
            <a:ext cx="10566400" cy="4221481"/>
          </a:xfrm>
          <a:prstGeom prst="rect">
            <a:avLst/>
          </a:prstGeom>
          <a:noFill/>
          <a:ln/>
        </p:spPr>
        <p:txBody>
          <a:bodyPr wrap="square" lIns="0" tIns="0" rIns="0" bIns="0" rtlCol="0" anchor="t"/>
          <a:lstStyle>
            <a:lvl1pPr algn="l" indent="0" marL="0">
              <a:lnSpc>
                <a:spcPct val="140000"/>
              </a:lnSpc>
              <a:buNone/>
              <a:defRPr lang="en-US" sz="1600" dirty="0">
                <a:solidFill>
                  <a:srgbClr val="1421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9979"/>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421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23719"/>
            <a:ext cx="10566400" cy="4221481"/>
          </a:xfrm>
          <a:prstGeom prst="rect">
            <a:avLst/>
          </a:prstGeom>
          <a:noFill/>
          <a:ln/>
        </p:spPr>
        <p:txBody>
          <a:bodyPr wrap="square" lIns="0" tIns="0" rIns="0" bIns="0" rtlCol="0" anchor="t"/>
          <a:lstStyle>
            <a:lvl1pPr algn="l" indent="0" marL="0">
              <a:lnSpc>
                <a:spcPct val="140000"/>
              </a:lnSpc>
              <a:buNone/>
              <a:defRPr lang="en-US" sz="1600" dirty="0">
                <a:solidFill>
                  <a:srgbClr val="1421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52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C1526"/>
              </a:gs>
              <a:gs pos="55000">
                <a:srgbClr val="121E35"/>
              </a:gs>
              <a:gs pos="100000">
                <a:srgbClr val="0C1526"/>
              </a:gs>
            </a:gsLst>
            <a:lin ang="3300000" scaled="0"/>
          </a:gra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FA0FF"/>
                </a:solidFill>
                <a:latin typeface="JetBrains Mono" pitchFamily="49" charset="0"/>
                <a:ea typeface="JetBrains Mono" pitchFamily="49" charset="-122"/>
                <a:cs typeface="JetBrains Mono" pitchFamily="49" charset="-120"/>
              </a:rPr>
              <a:t>CONFIDENTIAL — SECURITY ASSESSMENT</a:t>
            </a:r>
            <a:endParaRPr lang="en-US" sz="1200" dirty="0"/>
          </a:p>
        </p:txBody>
      </p:sp>
      <p:sp>
        <p:nvSpPr>
          <p:cNvPr id="4" name="Text 2"/>
          <p:cNvSpPr/>
          <p:nvPr>
            <p:ph type="title"/>
          </p:nvPr>
        </p:nvSpPr>
        <p:spPr>
          <a:xfrm>
            <a:off x="812800" y="1203960"/>
            <a:ext cx="9810750" cy="71882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3F5F8"/>
                </a:solidFill>
                <a:latin typeface="IBM Plex Sans" pitchFamily="34" charset="0"/>
                <a:ea typeface="IBM Plex Sans" pitchFamily="34" charset="-122"/>
                <a:cs typeface="IBM Plex Sans" pitchFamily="34" charset="-120"/>
              </a:rPr>
              <a:t>Advanced VAPT Report</a:t>
            </a:r>
            <a:endParaRPr lang="en-US" sz="5200" dirty="0"/>
          </a:p>
        </p:txBody>
      </p:sp>
      <p:sp>
        <p:nvSpPr>
          <p:cNvPr id="5" name="Text 3"/>
          <p:cNvSpPr/>
          <p:nvPr/>
        </p:nvSpPr>
        <p:spPr>
          <a:xfrm>
            <a:off x="812800" y="2075180"/>
            <a:ext cx="9156700" cy="405130"/>
          </a:xfrm>
          <a:prstGeom prst="rect">
            <a:avLst/>
          </a:prstGeom>
          <a:noFill/>
          <a:ln/>
        </p:spPr>
        <p:txBody>
          <a:bodyPr wrap="square" lIns="0" tIns="0" rIns="0" bIns="0" rtlCol="0" anchor="t">
            <a:normAutofit/>
          </a:bodyPr>
          <a:lstStyle/>
          <a:p>
            <a:pPr algn="l" indent="0" marL="0">
              <a:lnSpc>
                <a:spcPts val="2990"/>
              </a:lnSpc>
              <a:buNone/>
            </a:pPr>
            <a:r>
              <a:rPr lang="en-US" sz="2600" dirty="0">
                <a:solidFill>
                  <a:srgbClr val="AFC0DA"/>
                </a:solidFill>
                <a:latin typeface="IBM Plex Sans" pitchFamily="34" charset="0"/>
                <a:ea typeface="IBM Plex Sans" pitchFamily="34" charset="-122"/>
                <a:cs typeface="IBM Plex Sans" pitchFamily="34" charset="-120"/>
              </a:rPr>
              <a:t>OWASP Juice Shop — Local Test Instance</a:t>
            </a:r>
            <a:endParaRPr lang="en-US" sz="2600" dirty="0"/>
          </a:p>
        </p:txBody>
      </p:sp>
      <p:sp>
        <p:nvSpPr>
          <p:cNvPr id="6" name="Shape 4"/>
          <p:cNvSpPr/>
          <p:nvPr/>
        </p:nvSpPr>
        <p:spPr>
          <a:xfrm>
            <a:off x="812800" y="5097780"/>
            <a:ext cx="762000" cy="25400"/>
          </a:xfrm>
          <a:prstGeom prst="roundRect">
            <a:avLst>
              <a:gd name="adj" fmla="val 50000"/>
            </a:avLst>
          </a:prstGeom>
          <a:solidFill>
            <a:srgbClr val="3B6FD6"/>
          </a:solidFill>
          <a:ln/>
        </p:spPr>
      </p:sp>
      <p:sp>
        <p:nvSpPr>
          <p:cNvPr id="7" name="Text 5"/>
          <p:cNvSpPr/>
          <p:nvPr/>
        </p:nvSpPr>
        <p:spPr>
          <a:xfrm>
            <a:off x="812800" y="5275580"/>
            <a:ext cx="2077590" cy="220980"/>
          </a:xfrm>
          <a:prstGeom prst="rect">
            <a:avLst/>
          </a:prstGeom>
          <a:noFill/>
          <a:ln/>
        </p:spPr>
        <p:txBody>
          <a:bodyPr wrap="square" lIns="0" tIns="0" rIns="0" bIns="0" rtlCol="0" anchor="t">
            <a:normAutofit/>
          </a:bodyPr>
          <a:lstStyle/>
          <a:p>
            <a:pPr algn="l" indent="0" marL="0">
              <a:lnSpc>
                <a:spcPts val="1540"/>
              </a:lnSpc>
              <a:buNone/>
            </a:pPr>
            <a:r>
              <a:rPr lang="en-US" sz="1100" spc="50" kern="0" dirty="0">
                <a:solidFill>
                  <a:srgbClr val="7E8CA6"/>
                </a:solidFill>
                <a:latin typeface="IBM Plex Sans" pitchFamily="34" charset="0"/>
                <a:ea typeface="IBM Plex Sans" pitchFamily="34" charset="-122"/>
                <a:cs typeface="IBM Plex Sans" pitchFamily="34" charset="-120"/>
              </a:rPr>
              <a:t>PREPARED BY</a:t>
            </a:r>
            <a:endParaRPr lang="en-US" sz="1100" dirty="0"/>
          </a:p>
        </p:txBody>
      </p:sp>
      <p:sp>
        <p:nvSpPr>
          <p:cNvPr id="8" name="Text 6"/>
          <p:cNvSpPr/>
          <p:nvPr/>
        </p:nvSpPr>
        <p:spPr>
          <a:xfrm>
            <a:off x="812800" y="5509260"/>
            <a:ext cx="207759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5F8"/>
                </a:solidFill>
                <a:latin typeface="IBM Plex Sans" pitchFamily="34" charset="0"/>
                <a:ea typeface="IBM Plex Sans" pitchFamily="34" charset="-122"/>
                <a:cs typeface="IBM Plex Sans" pitchFamily="34" charset="-120"/>
              </a:rPr>
              <a:t>Tanmay Sarkar</a:t>
            </a:r>
            <a:endParaRPr lang="en-US" sz="1600" dirty="0"/>
          </a:p>
        </p:txBody>
      </p:sp>
      <p:sp>
        <p:nvSpPr>
          <p:cNvPr id="9" name="Text 7"/>
          <p:cNvSpPr/>
          <p:nvPr/>
        </p:nvSpPr>
        <p:spPr>
          <a:xfrm>
            <a:off x="812800" y="5831840"/>
            <a:ext cx="24204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C0DA"/>
                </a:solidFill>
                <a:latin typeface="IBM Plex Sans" pitchFamily="34" charset="0"/>
                <a:ea typeface="IBM Plex Sans" pitchFamily="34" charset="-122"/>
                <a:cs typeface="IBM Plex Sans" pitchFamily="34" charset="-120"/>
              </a:rPr>
              <a:t>B.Tech CSE, Tezpur University</a:t>
            </a:r>
            <a:endParaRPr lang="en-US" sz="1200" dirty="0"/>
          </a:p>
        </p:txBody>
      </p:sp>
      <p:sp>
        <p:nvSpPr>
          <p:cNvPr id="10" name="Text 8"/>
          <p:cNvSpPr/>
          <p:nvPr/>
        </p:nvSpPr>
        <p:spPr>
          <a:xfrm>
            <a:off x="3236277" y="5275580"/>
            <a:ext cx="2851740" cy="220980"/>
          </a:xfrm>
          <a:prstGeom prst="rect">
            <a:avLst/>
          </a:prstGeom>
          <a:noFill/>
          <a:ln/>
        </p:spPr>
        <p:txBody>
          <a:bodyPr wrap="square" lIns="0" tIns="0" rIns="0" bIns="0" rtlCol="0" anchor="t">
            <a:normAutofit/>
          </a:bodyPr>
          <a:lstStyle/>
          <a:p>
            <a:pPr algn="l" indent="0" marL="0">
              <a:lnSpc>
                <a:spcPts val="1540"/>
              </a:lnSpc>
              <a:buNone/>
            </a:pPr>
            <a:r>
              <a:rPr lang="en-US" sz="1100" spc="50" kern="0" dirty="0">
                <a:solidFill>
                  <a:srgbClr val="7E8CA6"/>
                </a:solidFill>
                <a:latin typeface="IBM Plex Sans" pitchFamily="34" charset="0"/>
                <a:ea typeface="IBM Plex Sans" pitchFamily="34" charset="-122"/>
                <a:cs typeface="IBM Plex Sans" pitchFamily="34" charset="-120"/>
              </a:rPr>
              <a:t>METHODOLOGY</a:t>
            </a:r>
            <a:endParaRPr lang="en-US" sz="1100" dirty="0"/>
          </a:p>
        </p:txBody>
      </p:sp>
      <p:sp>
        <p:nvSpPr>
          <p:cNvPr id="11" name="Text 9"/>
          <p:cNvSpPr/>
          <p:nvPr/>
        </p:nvSpPr>
        <p:spPr>
          <a:xfrm>
            <a:off x="3236277" y="5509260"/>
            <a:ext cx="28517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5F8"/>
                </a:solidFill>
                <a:latin typeface="IBM Plex Sans" pitchFamily="34" charset="0"/>
                <a:ea typeface="IBM Plex Sans" pitchFamily="34" charset="-122"/>
                <a:cs typeface="IBM Plex Sans" pitchFamily="34" charset="-120"/>
              </a:rPr>
              <a:t>Manual VAPT — Burp Suite</a:t>
            </a:r>
            <a:endParaRPr lang="en-US" sz="1600" dirty="0"/>
          </a:p>
        </p:txBody>
      </p:sp>
      <p:sp>
        <p:nvSpPr>
          <p:cNvPr id="12" name="Text 10"/>
          <p:cNvSpPr/>
          <p:nvPr/>
        </p:nvSpPr>
        <p:spPr>
          <a:xfrm>
            <a:off x="3236277" y="5831840"/>
            <a:ext cx="31750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C0DA"/>
                </a:solidFill>
                <a:latin typeface="IBM Plex Sans" pitchFamily="34" charset="0"/>
                <a:ea typeface="IBM Plex Sans" pitchFamily="34" charset="-122"/>
                <a:cs typeface="IBM Plex Sans" pitchFamily="34" charset="-120"/>
              </a:rPr>
              <a:t>Proxy + Repeater, OWASP WSTG-aligned</a:t>
            </a:r>
            <a:endParaRPr lang="en-US" sz="1200" dirty="0"/>
          </a:p>
        </p:txBody>
      </p:sp>
      <p:sp>
        <p:nvSpPr>
          <p:cNvPr id="13" name="Text 11"/>
          <p:cNvSpPr/>
          <p:nvPr/>
        </p:nvSpPr>
        <p:spPr>
          <a:xfrm>
            <a:off x="6411357" y="5275580"/>
            <a:ext cx="1755470" cy="220980"/>
          </a:xfrm>
          <a:prstGeom prst="rect">
            <a:avLst/>
          </a:prstGeom>
          <a:noFill/>
          <a:ln/>
        </p:spPr>
        <p:txBody>
          <a:bodyPr wrap="square" lIns="0" tIns="0" rIns="0" bIns="0" rtlCol="0" anchor="t">
            <a:normAutofit/>
          </a:bodyPr>
          <a:lstStyle/>
          <a:p>
            <a:pPr algn="l" indent="0" marL="0">
              <a:lnSpc>
                <a:spcPts val="1540"/>
              </a:lnSpc>
              <a:buNone/>
            </a:pPr>
            <a:r>
              <a:rPr lang="en-US" sz="1100" spc="50" kern="0" dirty="0">
                <a:solidFill>
                  <a:srgbClr val="7E8CA6"/>
                </a:solidFill>
                <a:latin typeface="IBM Plex Sans" pitchFamily="34" charset="0"/>
                <a:ea typeface="IBM Plex Sans" pitchFamily="34" charset="-122"/>
                <a:cs typeface="IBM Plex Sans" pitchFamily="34" charset="-120"/>
              </a:rPr>
              <a:t>REPORT DATE</a:t>
            </a:r>
            <a:endParaRPr lang="en-US" sz="1100" dirty="0"/>
          </a:p>
        </p:txBody>
      </p:sp>
      <p:sp>
        <p:nvSpPr>
          <p:cNvPr id="14" name="Text 12"/>
          <p:cNvSpPr/>
          <p:nvPr/>
        </p:nvSpPr>
        <p:spPr>
          <a:xfrm>
            <a:off x="6411357" y="5509260"/>
            <a:ext cx="175547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5F8"/>
                </a:solidFill>
                <a:latin typeface="IBM Plex Sans" pitchFamily="34" charset="0"/>
                <a:ea typeface="IBM Plex Sans" pitchFamily="34" charset="-122"/>
                <a:cs typeface="IBM Plex Sans" pitchFamily="34" charset="-120"/>
              </a:rPr>
              <a:t>28 October 2026</a:t>
            </a:r>
            <a:endParaRPr lang="en-US" sz="1600" dirty="0"/>
          </a:p>
        </p:txBody>
      </p:sp>
      <p:sp>
        <p:nvSpPr>
          <p:cNvPr id="15" name="Text 13"/>
          <p:cNvSpPr/>
          <p:nvPr/>
        </p:nvSpPr>
        <p:spPr>
          <a:xfrm>
            <a:off x="6411357" y="5831840"/>
            <a:ext cx="20452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FC0DA"/>
                </a:solidFill>
                <a:latin typeface="IBM Plex Sans" pitchFamily="34" charset="0"/>
                <a:ea typeface="IBM Plex Sans" pitchFamily="34" charset="-122"/>
                <a:cs typeface="IBM Plex Sans" pitchFamily="34" charset="-120"/>
              </a:rPr>
              <a:t>Testing: 26–27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2098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2F5FCB"/>
                </a:solidFill>
                <a:latin typeface="JetBrains Mono" pitchFamily="49" charset="0"/>
                <a:ea typeface="JetBrains Mono" pitchFamily="49" charset="-122"/>
                <a:cs typeface="JetBrains Mono" pitchFamily="49" charset="-120"/>
              </a:rPr>
              <a:t>AGENDA</a:t>
            </a:r>
            <a:endParaRPr lang="en-US" sz="1100" dirty="0"/>
          </a:p>
        </p:txBody>
      </p:sp>
      <p:sp>
        <p:nvSpPr>
          <p:cNvPr id="3" name="Text 1"/>
          <p:cNvSpPr/>
          <p:nvPr>
            <p:ph type="title"/>
          </p:nvPr>
        </p:nvSpPr>
        <p:spPr>
          <a:xfrm>
            <a:off x="812800" y="1109980"/>
            <a:ext cx="10883392" cy="521970"/>
          </a:xfrm>
          <a:prstGeom prst="rect">
            <a:avLst/>
          </a:prstGeom>
          <a:noFill/>
          <a:ln/>
        </p:spPr>
        <p:txBody>
          <a:bodyPr wrap="square" lIns="0" tIns="0" rIns="0" bIns="0" rtlCol="0" anchor="t">
            <a:normAutofit/>
          </a:bodyPr>
          <a:lstStyle/>
          <a:p>
            <a:pPr algn="l" indent="0" marL="0">
              <a:lnSpc>
                <a:spcPts val="3910"/>
              </a:lnSpc>
              <a:buNone/>
            </a:pPr>
            <a:r>
              <a:rPr lang="en-US" sz="3400" b="1" i="0" dirty="0">
                <a:solidFill>
                  <a:srgbClr val="142133"/>
                </a:solidFill>
                <a:latin typeface="IBM Plex Sans" pitchFamily="34" charset="0"/>
                <a:ea typeface="IBM Plex Sans" pitchFamily="34" charset="-122"/>
                <a:cs typeface="IBM Plex Sans" pitchFamily="34" charset="-120"/>
              </a:rPr>
              <a:t>What this briefing covers</a:t>
            </a:r>
            <a:endParaRPr lang="en-US" sz="3400" dirty="0"/>
          </a:p>
        </p:txBody>
      </p:sp>
      <p:sp>
        <p:nvSpPr>
          <p:cNvPr id="4" name="Shape 2"/>
          <p:cNvSpPr/>
          <p:nvPr/>
        </p:nvSpPr>
        <p:spPr>
          <a:xfrm>
            <a:off x="815975" y="1965325"/>
            <a:ext cx="5175250" cy="1294130"/>
          </a:xfrm>
          <a:prstGeom prst="roundRect">
            <a:avLst>
              <a:gd name="adj" fmla="val 9568"/>
            </a:avLst>
          </a:prstGeom>
          <a:solidFill>
            <a:srgbClr val="FFFFFF"/>
          </a:solidFill>
          <a:ln w="6350">
            <a:solidFill>
              <a:srgbClr val="E1E5EA"/>
            </a:solidFill>
            <a:prstDash val="solid"/>
          </a:ln>
        </p:spPr>
      </p:sp>
      <p:sp>
        <p:nvSpPr>
          <p:cNvPr id="5" name="Text 3"/>
          <p:cNvSpPr/>
          <p:nvPr/>
        </p:nvSpPr>
        <p:spPr>
          <a:xfrm>
            <a:off x="1071880" y="2221230"/>
            <a:ext cx="382032" cy="8077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FCB"/>
                </a:solidFill>
                <a:latin typeface="JetBrains Mono" pitchFamily="49" charset="0"/>
                <a:ea typeface="JetBrains Mono" pitchFamily="49" charset="-122"/>
                <a:cs typeface="JetBrains Mono" pitchFamily="49" charset="-120"/>
              </a:rPr>
              <a:t>01</a:t>
            </a:r>
            <a:endParaRPr lang="en-US" sz="2200" dirty="0"/>
          </a:p>
        </p:txBody>
      </p:sp>
      <p:sp>
        <p:nvSpPr>
          <p:cNvPr id="6" name="Text 4"/>
          <p:cNvSpPr/>
          <p:nvPr/>
        </p:nvSpPr>
        <p:spPr>
          <a:xfrm>
            <a:off x="1580912" y="2221230"/>
            <a:ext cx="42790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3"/>
                </a:solidFill>
                <a:latin typeface="IBM Plex Sans" pitchFamily="34" charset="0"/>
                <a:ea typeface="IBM Plex Sans" pitchFamily="34" charset="-122"/>
                <a:cs typeface="IBM Plex Sans" pitchFamily="34" charset="-120"/>
              </a:rPr>
              <a:t>Engagement overview</a:t>
            </a:r>
            <a:endParaRPr lang="en-US" sz="1600" dirty="0"/>
          </a:p>
        </p:txBody>
      </p:sp>
      <p:sp>
        <p:nvSpPr>
          <p:cNvPr id="7" name="Text 5"/>
          <p:cNvSpPr/>
          <p:nvPr/>
        </p:nvSpPr>
        <p:spPr>
          <a:xfrm>
            <a:off x="1580912" y="2515870"/>
            <a:ext cx="42790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1607A"/>
                </a:solidFill>
                <a:latin typeface="IBM Plex Sans" pitchFamily="34" charset="0"/>
                <a:ea typeface="IBM Plex Sans" pitchFamily="34" charset="-122"/>
                <a:cs typeface="IBM Plex Sans" pitchFamily="34" charset="-120"/>
              </a:rPr>
              <a:t>Target, tooling and scope for a manual Burp Suite assessment</a:t>
            </a:r>
            <a:endParaRPr lang="en-US" sz="1200" dirty="0"/>
          </a:p>
        </p:txBody>
      </p:sp>
      <p:sp>
        <p:nvSpPr>
          <p:cNvPr id="8" name="Shape 6"/>
          <p:cNvSpPr/>
          <p:nvPr/>
        </p:nvSpPr>
        <p:spPr>
          <a:xfrm>
            <a:off x="6200775" y="1965325"/>
            <a:ext cx="5175250" cy="1294130"/>
          </a:xfrm>
          <a:prstGeom prst="roundRect">
            <a:avLst>
              <a:gd name="adj" fmla="val 9568"/>
            </a:avLst>
          </a:prstGeom>
          <a:solidFill>
            <a:srgbClr val="FFFFFF"/>
          </a:solidFill>
          <a:ln w="6350">
            <a:solidFill>
              <a:srgbClr val="E1E5EA"/>
            </a:solidFill>
            <a:prstDash val="solid"/>
          </a:ln>
        </p:spPr>
      </p:sp>
      <p:sp>
        <p:nvSpPr>
          <p:cNvPr id="9" name="Text 7"/>
          <p:cNvSpPr/>
          <p:nvPr/>
        </p:nvSpPr>
        <p:spPr>
          <a:xfrm>
            <a:off x="6456680" y="2221230"/>
            <a:ext cx="402336"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FCB"/>
                </a:solidFill>
                <a:latin typeface="JetBrains Mono" pitchFamily="49" charset="0"/>
                <a:ea typeface="JetBrains Mono" pitchFamily="49" charset="-122"/>
                <a:cs typeface="JetBrains Mono" pitchFamily="49" charset="-120"/>
              </a:rPr>
              <a:t>02</a:t>
            </a:r>
            <a:endParaRPr lang="en-US" sz="2200" dirty="0"/>
          </a:p>
        </p:txBody>
      </p:sp>
      <p:sp>
        <p:nvSpPr>
          <p:cNvPr id="10" name="Text 8"/>
          <p:cNvSpPr/>
          <p:nvPr/>
        </p:nvSpPr>
        <p:spPr>
          <a:xfrm>
            <a:off x="6969760" y="2221230"/>
            <a:ext cx="308719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3"/>
                </a:solidFill>
                <a:latin typeface="IBM Plex Sans" pitchFamily="34" charset="0"/>
                <a:ea typeface="IBM Plex Sans" pitchFamily="34" charset="-122"/>
                <a:cs typeface="IBM Plex Sans" pitchFamily="34" charset="-120"/>
              </a:rPr>
              <a:t>Methodology</a:t>
            </a:r>
            <a:endParaRPr lang="en-US" sz="1600" dirty="0"/>
          </a:p>
        </p:txBody>
      </p:sp>
      <p:sp>
        <p:nvSpPr>
          <p:cNvPr id="11" name="Text 9"/>
          <p:cNvSpPr/>
          <p:nvPr/>
        </p:nvSpPr>
        <p:spPr>
          <a:xfrm>
            <a:off x="6969760" y="2515870"/>
            <a:ext cx="35967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1607A"/>
                </a:solidFill>
                <a:latin typeface="IBM Plex Sans" pitchFamily="34" charset="0"/>
                <a:ea typeface="IBM Plex Sans" pitchFamily="34" charset="-122"/>
                <a:cs typeface="IBM Plex Sans" pitchFamily="34" charset="-120"/>
              </a:rPr>
              <a:t>How each test was performed and validated</a:t>
            </a:r>
            <a:endParaRPr lang="en-US" sz="1200" dirty="0"/>
          </a:p>
        </p:txBody>
      </p:sp>
      <p:sp>
        <p:nvSpPr>
          <p:cNvPr id="12" name="Shape 10"/>
          <p:cNvSpPr/>
          <p:nvPr/>
        </p:nvSpPr>
        <p:spPr>
          <a:xfrm>
            <a:off x="815975" y="3469005"/>
            <a:ext cx="5175250" cy="1019810"/>
          </a:xfrm>
          <a:prstGeom prst="roundRect">
            <a:avLst>
              <a:gd name="adj" fmla="val 12142"/>
            </a:avLst>
          </a:prstGeom>
          <a:solidFill>
            <a:srgbClr val="FFFFFF"/>
          </a:solidFill>
          <a:ln w="6350">
            <a:solidFill>
              <a:srgbClr val="E1E5EA"/>
            </a:solidFill>
            <a:prstDash val="solid"/>
          </a:ln>
        </p:spPr>
      </p:sp>
      <p:sp>
        <p:nvSpPr>
          <p:cNvPr id="13" name="Text 11"/>
          <p:cNvSpPr/>
          <p:nvPr/>
        </p:nvSpPr>
        <p:spPr>
          <a:xfrm>
            <a:off x="1071880" y="3724910"/>
            <a:ext cx="402336"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2311C"/>
                </a:solidFill>
                <a:latin typeface="JetBrains Mono" pitchFamily="49" charset="0"/>
                <a:ea typeface="JetBrains Mono" pitchFamily="49" charset="-122"/>
                <a:cs typeface="JetBrains Mono" pitchFamily="49" charset="-120"/>
              </a:rPr>
              <a:t>03</a:t>
            </a:r>
            <a:endParaRPr lang="en-US" sz="2200" dirty="0"/>
          </a:p>
        </p:txBody>
      </p:sp>
      <p:sp>
        <p:nvSpPr>
          <p:cNvPr id="14" name="Text 12"/>
          <p:cNvSpPr/>
          <p:nvPr/>
        </p:nvSpPr>
        <p:spPr>
          <a:xfrm>
            <a:off x="1584960" y="3724910"/>
            <a:ext cx="386968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3"/>
                </a:solidFill>
                <a:latin typeface="IBM Plex Sans" pitchFamily="34" charset="0"/>
                <a:ea typeface="IBM Plex Sans" pitchFamily="34" charset="-122"/>
                <a:cs typeface="IBM Plex Sans" pitchFamily="34" charset="-120"/>
              </a:rPr>
              <a:t>Findings, F-1 to F-10</a:t>
            </a:r>
            <a:endParaRPr lang="en-US" sz="1600" dirty="0"/>
          </a:p>
        </p:txBody>
      </p:sp>
      <p:sp>
        <p:nvSpPr>
          <p:cNvPr id="15" name="Text 13"/>
          <p:cNvSpPr/>
          <p:nvPr/>
        </p:nvSpPr>
        <p:spPr>
          <a:xfrm>
            <a:off x="1584960" y="4019550"/>
            <a:ext cx="44030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1607A"/>
                </a:solidFill>
                <a:latin typeface="IBM Plex Sans" pitchFamily="34" charset="0"/>
                <a:ea typeface="IBM Plex Sans" pitchFamily="34" charset="-122"/>
                <a:cs typeface="IBM Plex Sans" pitchFamily="34" charset="-120"/>
              </a:rPr>
              <a:t>Two High-severity issues, worst first, with live evidence</a:t>
            </a:r>
            <a:endParaRPr lang="en-US" sz="1200" dirty="0"/>
          </a:p>
        </p:txBody>
      </p:sp>
      <p:sp>
        <p:nvSpPr>
          <p:cNvPr id="16" name="Shape 14"/>
          <p:cNvSpPr/>
          <p:nvPr/>
        </p:nvSpPr>
        <p:spPr>
          <a:xfrm>
            <a:off x="6200775" y="3469005"/>
            <a:ext cx="5175250" cy="1019810"/>
          </a:xfrm>
          <a:prstGeom prst="roundRect">
            <a:avLst>
              <a:gd name="adj" fmla="val 12142"/>
            </a:avLst>
          </a:prstGeom>
          <a:solidFill>
            <a:srgbClr val="FFFFFF"/>
          </a:solidFill>
          <a:ln w="6350">
            <a:solidFill>
              <a:srgbClr val="E1E5EA"/>
            </a:solidFill>
            <a:prstDash val="solid"/>
          </a:ln>
        </p:spPr>
      </p:sp>
      <p:sp>
        <p:nvSpPr>
          <p:cNvPr id="17" name="Text 15"/>
          <p:cNvSpPr/>
          <p:nvPr/>
        </p:nvSpPr>
        <p:spPr>
          <a:xfrm>
            <a:off x="6456680" y="3724910"/>
            <a:ext cx="402336"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FCB"/>
                </a:solidFill>
                <a:latin typeface="JetBrains Mono" pitchFamily="49" charset="0"/>
                <a:ea typeface="JetBrains Mono" pitchFamily="49" charset="-122"/>
                <a:cs typeface="JetBrains Mono" pitchFamily="49" charset="-120"/>
              </a:rPr>
              <a:t>04</a:t>
            </a:r>
            <a:endParaRPr lang="en-US" sz="2200" dirty="0"/>
          </a:p>
        </p:txBody>
      </p:sp>
      <p:sp>
        <p:nvSpPr>
          <p:cNvPr id="18" name="Text 16"/>
          <p:cNvSpPr/>
          <p:nvPr/>
        </p:nvSpPr>
        <p:spPr>
          <a:xfrm>
            <a:off x="6969760" y="3724910"/>
            <a:ext cx="344919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3"/>
                </a:solidFill>
                <a:latin typeface="IBM Plex Sans" pitchFamily="34" charset="0"/>
                <a:ea typeface="IBM Plex Sans" pitchFamily="34" charset="-122"/>
                <a:cs typeface="IBM Plex Sans" pitchFamily="34" charset="-120"/>
              </a:rPr>
              <a:t>Risk, remediation &amp; next steps</a:t>
            </a:r>
            <a:endParaRPr lang="en-US" sz="1600" dirty="0"/>
          </a:p>
        </p:txBody>
      </p:sp>
      <p:sp>
        <p:nvSpPr>
          <p:cNvPr id="19" name="Text 17"/>
          <p:cNvSpPr/>
          <p:nvPr/>
        </p:nvSpPr>
        <p:spPr>
          <a:xfrm>
            <a:off x="6969760" y="4019550"/>
            <a:ext cx="29605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1607A"/>
                </a:solidFill>
                <a:latin typeface="IBM Plex Sans" pitchFamily="34" charset="0"/>
                <a:ea typeface="IBM Plex Sans" pitchFamily="34" charset="-122"/>
                <a:cs typeface="IBM Plex Sans" pitchFamily="34" charset="-120"/>
              </a:rPr>
              <a:t>Prioritized fixes and what to retest first</a:t>
            </a:r>
            <a:endParaRPr lang="en-US" sz="1200" dirty="0"/>
          </a:p>
        </p:txBody>
      </p:sp>
      <p:sp>
        <p:nvSpPr>
          <p:cNvPr id="20" name="Text 18"/>
          <p:cNvSpPr/>
          <p:nvPr/>
        </p:nvSpPr>
        <p:spPr>
          <a:xfrm>
            <a:off x="812800" y="6256020"/>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21" name="Text 19"/>
          <p:cNvSpPr/>
          <p:nvPr/>
        </p:nvSpPr>
        <p:spPr>
          <a:xfrm>
            <a:off x="10373360" y="6256020"/>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2098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2F5FCB"/>
                </a:solidFill>
                <a:latin typeface="JetBrains Mono" pitchFamily="49" charset="0"/>
                <a:ea typeface="JetBrains Mono" pitchFamily="49" charset="-122"/>
                <a:cs typeface="JetBrains Mono" pitchFamily="49" charset="-120"/>
              </a:rPr>
              <a:t>ENGAGEMENT OVERVIEW</a:t>
            </a:r>
            <a:endParaRPr lang="en-US" sz="1100" dirty="0"/>
          </a:p>
        </p:txBody>
      </p:sp>
      <p:sp>
        <p:nvSpPr>
          <p:cNvPr id="3" name="Text 1"/>
          <p:cNvSpPr/>
          <p:nvPr>
            <p:ph type="title"/>
          </p:nvPr>
        </p:nvSpPr>
        <p:spPr>
          <a:xfrm>
            <a:off x="812800" y="110998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3"/>
                </a:solidFill>
                <a:latin typeface="IBM Plex Sans" pitchFamily="34" charset="0"/>
                <a:ea typeface="IBM Plex Sans" pitchFamily="34" charset="-122"/>
                <a:cs typeface="IBM Plex Sans" pitchFamily="34" charset="-120"/>
              </a:rPr>
              <a:t>Target &amp; testing environment</a:t>
            </a:r>
            <a:endParaRPr lang="en-US" sz="3200" dirty="0"/>
          </a:p>
        </p:txBody>
      </p:sp>
      <p:sp>
        <p:nvSpPr>
          <p:cNvPr id="4" name="Shape 2"/>
          <p:cNvSpPr/>
          <p:nvPr/>
        </p:nvSpPr>
        <p:spPr>
          <a:xfrm>
            <a:off x="815975" y="1859916"/>
            <a:ext cx="2520950" cy="1148715"/>
          </a:xfrm>
          <a:prstGeom prst="roundRect">
            <a:avLst>
              <a:gd name="adj" fmla="val 10779"/>
            </a:avLst>
          </a:prstGeom>
          <a:solidFill>
            <a:srgbClr val="FFFFFF"/>
          </a:solidFill>
          <a:ln w="6350">
            <a:solidFill>
              <a:srgbClr val="E1E5EA"/>
            </a:solidFill>
            <a:prstDash val="solid"/>
          </a:ln>
        </p:spPr>
      </p:sp>
      <p:sp>
        <p:nvSpPr>
          <p:cNvPr id="5" name="Text 3"/>
          <p:cNvSpPr/>
          <p:nvPr/>
        </p:nvSpPr>
        <p:spPr>
          <a:xfrm>
            <a:off x="1021080" y="2065020"/>
            <a:ext cx="2174062" cy="220980"/>
          </a:xfrm>
          <a:prstGeom prst="rect">
            <a:avLst/>
          </a:prstGeom>
          <a:noFill/>
          <a:ln/>
        </p:spPr>
        <p:txBody>
          <a:bodyPr wrap="square" lIns="0" tIns="0" rIns="0" bIns="0" rtlCol="0" anchor="t">
            <a:normAutofit/>
          </a:bodyPr>
          <a:lstStyle/>
          <a:p>
            <a:pPr algn="l" indent="0" marL="0">
              <a:lnSpc>
                <a:spcPts val="1540"/>
              </a:lnSpc>
              <a:buNone/>
            </a:pPr>
            <a:r>
              <a:rPr lang="en-US" sz="1100" spc="50" kern="0" dirty="0">
                <a:solidFill>
                  <a:srgbClr val="51607A"/>
                </a:solidFill>
                <a:latin typeface="IBM Plex Sans" pitchFamily="34" charset="0"/>
                <a:ea typeface="IBM Plex Sans" pitchFamily="34" charset="-122"/>
                <a:cs typeface="IBM Plex Sans" pitchFamily="34" charset="-120"/>
              </a:rPr>
              <a:t>TARGET</a:t>
            </a:r>
            <a:endParaRPr lang="en-US" sz="1100" dirty="0"/>
          </a:p>
        </p:txBody>
      </p:sp>
      <p:sp>
        <p:nvSpPr>
          <p:cNvPr id="6" name="Text 4"/>
          <p:cNvSpPr/>
          <p:nvPr/>
        </p:nvSpPr>
        <p:spPr>
          <a:xfrm>
            <a:off x="1021080" y="2324100"/>
            <a:ext cx="217406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42133"/>
                </a:solidFill>
                <a:latin typeface="IBM Plex Sans" pitchFamily="34" charset="0"/>
                <a:ea typeface="IBM Plex Sans" pitchFamily="34" charset="-122"/>
                <a:cs typeface="IBM Plex Sans" pitchFamily="34" charset="-120"/>
              </a:rPr>
              <a:t>OWASP Juice Shop</a:t>
            </a:r>
            <a:endParaRPr lang="en-US" sz="1500" dirty="0"/>
          </a:p>
        </p:txBody>
      </p:sp>
      <p:sp>
        <p:nvSpPr>
          <p:cNvPr id="7" name="Text 5"/>
          <p:cNvSpPr/>
          <p:nvPr/>
        </p:nvSpPr>
        <p:spPr>
          <a:xfrm>
            <a:off x="1021080" y="2625725"/>
            <a:ext cx="2174062"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2F5FCB"/>
                </a:solidFill>
                <a:latin typeface="JetBrains Mono" pitchFamily="49" charset="0"/>
                <a:ea typeface="JetBrains Mono" pitchFamily="49" charset="-122"/>
                <a:cs typeface="JetBrains Mono" pitchFamily="49" charset="-120"/>
              </a:rPr>
              <a:t>127.0.0.1:3000</a:t>
            </a:r>
            <a:endParaRPr lang="en-US" sz="1000" dirty="0"/>
          </a:p>
        </p:txBody>
      </p:sp>
      <p:sp>
        <p:nvSpPr>
          <p:cNvPr id="8" name="Shape 6"/>
          <p:cNvSpPr/>
          <p:nvPr/>
        </p:nvSpPr>
        <p:spPr>
          <a:xfrm>
            <a:off x="3495675" y="1859916"/>
            <a:ext cx="2520950" cy="1148715"/>
          </a:xfrm>
          <a:prstGeom prst="roundRect">
            <a:avLst>
              <a:gd name="adj" fmla="val 10779"/>
            </a:avLst>
          </a:prstGeom>
          <a:solidFill>
            <a:srgbClr val="FFFFFF"/>
          </a:solidFill>
          <a:ln w="6350">
            <a:solidFill>
              <a:srgbClr val="E1E5EA"/>
            </a:solidFill>
            <a:prstDash val="solid"/>
          </a:ln>
        </p:spPr>
      </p:sp>
      <p:sp>
        <p:nvSpPr>
          <p:cNvPr id="9" name="Text 7"/>
          <p:cNvSpPr/>
          <p:nvPr/>
        </p:nvSpPr>
        <p:spPr>
          <a:xfrm>
            <a:off x="3700780" y="2065020"/>
            <a:ext cx="2174062" cy="220980"/>
          </a:xfrm>
          <a:prstGeom prst="rect">
            <a:avLst/>
          </a:prstGeom>
          <a:noFill/>
          <a:ln/>
        </p:spPr>
        <p:txBody>
          <a:bodyPr wrap="square" lIns="0" tIns="0" rIns="0" bIns="0" rtlCol="0" anchor="t">
            <a:normAutofit/>
          </a:bodyPr>
          <a:lstStyle/>
          <a:p>
            <a:pPr algn="l" indent="0" marL="0">
              <a:lnSpc>
                <a:spcPts val="1540"/>
              </a:lnSpc>
              <a:buNone/>
            </a:pPr>
            <a:r>
              <a:rPr lang="en-US" sz="1100" spc="50" kern="0" dirty="0">
                <a:solidFill>
                  <a:srgbClr val="51607A"/>
                </a:solidFill>
                <a:latin typeface="IBM Plex Sans" pitchFamily="34" charset="0"/>
                <a:ea typeface="IBM Plex Sans" pitchFamily="34" charset="-122"/>
                <a:cs typeface="IBM Plex Sans" pitchFamily="34" charset="-120"/>
              </a:rPr>
              <a:t>TOOLING</a:t>
            </a:r>
            <a:endParaRPr lang="en-US" sz="1100" dirty="0"/>
          </a:p>
        </p:txBody>
      </p:sp>
      <p:sp>
        <p:nvSpPr>
          <p:cNvPr id="10" name="Text 8"/>
          <p:cNvSpPr/>
          <p:nvPr/>
        </p:nvSpPr>
        <p:spPr>
          <a:xfrm>
            <a:off x="3700780" y="2324100"/>
            <a:ext cx="217406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42133"/>
                </a:solidFill>
                <a:latin typeface="IBM Plex Sans" pitchFamily="34" charset="0"/>
                <a:ea typeface="IBM Plex Sans" pitchFamily="34" charset="-122"/>
                <a:cs typeface="IBM Plex Sans" pitchFamily="34" charset="-120"/>
              </a:rPr>
              <a:t>Burp Suite CE</a:t>
            </a:r>
            <a:endParaRPr lang="en-US" sz="1500" dirty="0"/>
          </a:p>
        </p:txBody>
      </p:sp>
      <p:sp>
        <p:nvSpPr>
          <p:cNvPr id="11" name="Text 9"/>
          <p:cNvSpPr/>
          <p:nvPr/>
        </p:nvSpPr>
        <p:spPr>
          <a:xfrm>
            <a:off x="3700780" y="2625725"/>
            <a:ext cx="2174062"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1607A"/>
                </a:solidFill>
                <a:latin typeface="IBM Plex Sans" pitchFamily="34" charset="0"/>
                <a:ea typeface="IBM Plex Sans" pitchFamily="34" charset="-122"/>
                <a:cs typeface="IBM Plex Sans" pitchFamily="34" charset="-120"/>
              </a:rPr>
              <a:t>v2026.7.2 — Proxy + Repeater</a:t>
            </a:r>
            <a:endParaRPr lang="en-US" sz="1000" dirty="0"/>
          </a:p>
        </p:txBody>
      </p:sp>
      <p:sp>
        <p:nvSpPr>
          <p:cNvPr id="12" name="Shape 10"/>
          <p:cNvSpPr/>
          <p:nvPr/>
        </p:nvSpPr>
        <p:spPr>
          <a:xfrm>
            <a:off x="6175375" y="1859916"/>
            <a:ext cx="2520950" cy="1148715"/>
          </a:xfrm>
          <a:prstGeom prst="roundRect">
            <a:avLst>
              <a:gd name="adj" fmla="val 10779"/>
            </a:avLst>
          </a:prstGeom>
          <a:solidFill>
            <a:srgbClr val="FFFFFF"/>
          </a:solidFill>
          <a:ln w="6350">
            <a:solidFill>
              <a:srgbClr val="E1E5EA"/>
            </a:solidFill>
            <a:prstDash val="solid"/>
          </a:ln>
        </p:spPr>
      </p:sp>
      <p:sp>
        <p:nvSpPr>
          <p:cNvPr id="13" name="Text 11"/>
          <p:cNvSpPr/>
          <p:nvPr/>
        </p:nvSpPr>
        <p:spPr>
          <a:xfrm>
            <a:off x="6380480" y="2065020"/>
            <a:ext cx="2174062" cy="220980"/>
          </a:xfrm>
          <a:prstGeom prst="rect">
            <a:avLst/>
          </a:prstGeom>
          <a:noFill/>
          <a:ln/>
        </p:spPr>
        <p:txBody>
          <a:bodyPr wrap="square" lIns="0" tIns="0" rIns="0" bIns="0" rtlCol="0" anchor="t">
            <a:normAutofit/>
          </a:bodyPr>
          <a:lstStyle/>
          <a:p>
            <a:pPr algn="l" indent="0" marL="0">
              <a:lnSpc>
                <a:spcPts val="1540"/>
              </a:lnSpc>
              <a:buNone/>
            </a:pPr>
            <a:r>
              <a:rPr lang="en-US" sz="1100" spc="50" kern="0" dirty="0">
                <a:solidFill>
                  <a:srgbClr val="51607A"/>
                </a:solidFill>
                <a:latin typeface="IBM Plex Sans" pitchFamily="34" charset="0"/>
                <a:ea typeface="IBM Plex Sans" pitchFamily="34" charset="-122"/>
                <a:cs typeface="IBM Plex Sans" pitchFamily="34" charset="-120"/>
              </a:rPr>
              <a:t>TEST ACCOUNTS</a:t>
            </a:r>
            <a:endParaRPr lang="en-US" sz="1100" dirty="0"/>
          </a:p>
        </p:txBody>
      </p:sp>
      <p:sp>
        <p:nvSpPr>
          <p:cNvPr id="14" name="Text 12"/>
          <p:cNvSpPr/>
          <p:nvPr/>
        </p:nvSpPr>
        <p:spPr>
          <a:xfrm>
            <a:off x="6380480" y="2324100"/>
            <a:ext cx="217406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42133"/>
                </a:solidFill>
                <a:latin typeface="IBM Plex Sans" pitchFamily="34" charset="0"/>
                <a:ea typeface="IBM Plex Sans" pitchFamily="34" charset="-122"/>
                <a:cs typeface="IBM Plex Sans" pitchFamily="34" charset="-120"/>
              </a:rPr>
              <a:t>2 accounts</a:t>
            </a:r>
            <a:endParaRPr lang="en-US" sz="1500" dirty="0"/>
          </a:p>
        </p:txBody>
      </p:sp>
      <p:sp>
        <p:nvSpPr>
          <p:cNvPr id="15" name="Text 13"/>
          <p:cNvSpPr/>
          <p:nvPr/>
        </p:nvSpPr>
        <p:spPr>
          <a:xfrm>
            <a:off x="6380480" y="2625725"/>
            <a:ext cx="2174062"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1607A"/>
                </a:solidFill>
                <a:latin typeface="IBM Plex Sans" pitchFamily="34" charset="0"/>
                <a:ea typeface="IBM Plex Sans" pitchFamily="34" charset="-122"/>
                <a:cs typeface="IBM Plex Sans" pitchFamily="34" charset="-120"/>
              </a:rPr>
              <a:t>UserId 25 &amp; UserId 26</a:t>
            </a:r>
            <a:endParaRPr lang="en-US" sz="1000" dirty="0"/>
          </a:p>
        </p:txBody>
      </p:sp>
      <p:sp>
        <p:nvSpPr>
          <p:cNvPr id="16" name="Shape 14"/>
          <p:cNvSpPr/>
          <p:nvPr/>
        </p:nvSpPr>
        <p:spPr>
          <a:xfrm>
            <a:off x="8855075" y="1859916"/>
            <a:ext cx="2520950" cy="1148715"/>
          </a:xfrm>
          <a:prstGeom prst="roundRect">
            <a:avLst>
              <a:gd name="adj" fmla="val 10779"/>
            </a:avLst>
          </a:prstGeom>
          <a:solidFill>
            <a:srgbClr val="FFFFFF"/>
          </a:solidFill>
          <a:ln w="6350">
            <a:solidFill>
              <a:srgbClr val="E1E5EA"/>
            </a:solidFill>
            <a:prstDash val="solid"/>
          </a:ln>
        </p:spPr>
      </p:sp>
      <p:sp>
        <p:nvSpPr>
          <p:cNvPr id="17" name="Text 15"/>
          <p:cNvSpPr/>
          <p:nvPr/>
        </p:nvSpPr>
        <p:spPr>
          <a:xfrm>
            <a:off x="9060180" y="2065020"/>
            <a:ext cx="2174062" cy="220980"/>
          </a:xfrm>
          <a:prstGeom prst="rect">
            <a:avLst/>
          </a:prstGeom>
          <a:noFill/>
          <a:ln/>
        </p:spPr>
        <p:txBody>
          <a:bodyPr wrap="square" lIns="0" tIns="0" rIns="0" bIns="0" rtlCol="0" anchor="t">
            <a:normAutofit/>
          </a:bodyPr>
          <a:lstStyle/>
          <a:p>
            <a:pPr algn="l" indent="0" marL="0">
              <a:lnSpc>
                <a:spcPts val="1540"/>
              </a:lnSpc>
              <a:buNone/>
            </a:pPr>
            <a:r>
              <a:rPr lang="en-US" sz="1100" spc="50" kern="0" dirty="0">
                <a:solidFill>
                  <a:srgbClr val="51607A"/>
                </a:solidFill>
                <a:latin typeface="IBM Plex Sans" pitchFamily="34" charset="0"/>
                <a:ea typeface="IBM Plex Sans" pitchFamily="34" charset="-122"/>
                <a:cs typeface="IBM Plex Sans" pitchFamily="34" charset="-120"/>
              </a:rPr>
              <a:t>TESTING WINDOW</a:t>
            </a:r>
            <a:endParaRPr lang="en-US" sz="1100" dirty="0"/>
          </a:p>
        </p:txBody>
      </p:sp>
      <p:sp>
        <p:nvSpPr>
          <p:cNvPr id="18" name="Text 16"/>
          <p:cNvSpPr/>
          <p:nvPr/>
        </p:nvSpPr>
        <p:spPr>
          <a:xfrm>
            <a:off x="9060180" y="2324100"/>
            <a:ext cx="217406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42133"/>
                </a:solidFill>
                <a:latin typeface="IBM Plex Sans" pitchFamily="34" charset="0"/>
                <a:ea typeface="IBM Plex Sans" pitchFamily="34" charset="-122"/>
                <a:cs typeface="IBM Plex Sans" pitchFamily="34" charset="-120"/>
              </a:rPr>
              <a:t>26–27 Oct 2026</a:t>
            </a:r>
            <a:endParaRPr lang="en-US" sz="1500" dirty="0"/>
          </a:p>
        </p:txBody>
      </p:sp>
      <p:sp>
        <p:nvSpPr>
          <p:cNvPr id="19" name="Text 17"/>
          <p:cNvSpPr/>
          <p:nvPr/>
        </p:nvSpPr>
        <p:spPr>
          <a:xfrm>
            <a:off x="9060180" y="2625725"/>
            <a:ext cx="2174062"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1607A"/>
                </a:solidFill>
                <a:latin typeface="IBM Plex Sans" pitchFamily="34" charset="0"/>
                <a:ea typeface="IBM Plex Sans" pitchFamily="34" charset="-122"/>
                <a:cs typeface="IBM Plex Sans" pitchFamily="34" charset="-120"/>
              </a:rPr>
              <a:t>Two sessions, 00:06–20:13</a:t>
            </a:r>
            <a:endParaRPr lang="en-US" sz="1000" dirty="0"/>
          </a:p>
        </p:txBody>
      </p:sp>
      <p:sp>
        <p:nvSpPr>
          <p:cNvPr id="20" name="Shape 18"/>
          <p:cNvSpPr/>
          <p:nvPr/>
        </p:nvSpPr>
        <p:spPr>
          <a:xfrm>
            <a:off x="812800" y="3291205"/>
            <a:ext cx="10566400" cy="1346200"/>
          </a:xfrm>
          <a:prstGeom prst="roundRect">
            <a:avLst>
              <a:gd name="adj" fmla="val 9434"/>
            </a:avLst>
          </a:prstGeom>
          <a:solidFill>
            <a:srgbClr val="142133"/>
          </a:solidFill>
          <a:ln/>
        </p:spPr>
      </p:sp>
      <p:sp>
        <p:nvSpPr>
          <p:cNvPr id="21" name="Text 19"/>
          <p:cNvSpPr/>
          <p:nvPr/>
        </p:nvSpPr>
        <p:spPr>
          <a:xfrm>
            <a:off x="1066800" y="3545205"/>
            <a:ext cx="10360152" cy="220980"/>
          </a:xfrm>
          <a:prstGeom prst="rect">
            <a:avLst/>
          </a:prstGeom>
          <a:noFill/>
          <a:ln/>
        </p:spPr>
        <p:txBody>
          <a:bodyPr wrap="square" lIns="0" tIns="0" rIns="0" bIns="0" rtlCol="0" anchor="t">
            <a:normAutofit/>
          </a:bodyPr>
          <a:lstStyle/>
          <a:p>
            <a:pPr algn="l" indent="0" marL="0">
              <a:lnSpc>
                <a:spcPts val="1540"/>
              </a:lnSpc>
              <a:buNone/>
            </a:pPr>
            <a:r>
              <a:rPr lang="en-US" sz="1100" spc="50" kern="0" dirty="0">
                <a:solidFill>
                  <a:srgbClr val="6FA0FF"/>
                </a:solidFill>
                <a:latin typeface="JetBrains Mono" pitchFamily="49" charset="0"/>
                <a:ea typeface="JetBrains Mono" pitchFamily="49" charset="-122"/>
                <a:cs typeface="JetBrains Mono" pitchFamily="49" charset="-120"/>
              </a:rPr>
              <a:t>SCOPE — SURFACES EXERCISED WITH REPEATER</a:t>
            </a:r>
            <a:endParaRPr lang="en-US" sz="1100" dirty="0"/>
          </a:p>
        </p:txBody>
      </p:sp>
      <p:sp>
        <p:nvSpPr>
          <p:cNvPr id="22" name="Text 20"/>
          <p:cNvSpPr/>
          <p:nvPr/>
        </p:nvSpPr>
        <p:spPr>
          <a:xfrm>
            <a:off x="1066800" y="3855086"/>
            <a:ext cx="33835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2"/>
                </a:solidFill>
                <a:latin typeface="IBM Plex Sans" pitchFamily="34" charset="0"/>
                <a:ea typeface="IBM Plex Sans" pitchFamily="34" charset="-122"/>
                <a:cs typeface="IBM Plex Sans" pitchFamily="34" charset="-120"/>
              </a:rPr>
              <a:t>Product search &amp; detail</a:t>
            </a:r>
            <a:endParaRPr lang="en-US" sz="1200" dirty="0"/>
          </a:p>
        </p:txBody>
      </p:sp>
      <p:sp>
        <p:nvSpPr>
          <p:cNvPr id="23" name="Text 21"/>
          <p:cNvSpPr/>
          <p:nvPr/>
        </p:nvSpPr>
        <p:spPr>
          <a:xfrm>
            <a:off x="4453414" y="3855086"/>
            <a:ext cx="3383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2"/>
                </a:solidFill>
                <a:latin typeface="IBM Plex Sans" pitchFamily="34" charset="0"/>
                <a:ea typeface="IBM Plex Sans" pitchFamily="34" charset="-122"/>
                <a:cs typeface="IBM Plex Sans" pitchFamily="34" charset="-120"/>
              </a:rPr>
              <a:t>Shopping basket</a:t>
            </a:r>
            <a:endParaRPr lang="en-US" sz="1200" dirty="0"/>
          </a:p>
        </p:txBody>
      </p:sp>
      <p:sp>
        <p:nvSpPr>
          <p:cNvPr id="24" name="Text 22"/>
          <p:cNvSpPr/>
          <p:nvPr/>
        </p:nvSpPr>
        <p:spPr>
          <a:xfrm>
            <a:off x="7840107" y="3855086"/>
            <a:ext cx="3383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2"/>
                </a:solidFill>
                <a:latin typeface="IBM Plex Sans" pitchFamily="34" charset="0"/>
                <a:ea typeface="IBM Plex Sans" pitchFamily="34" charset="-122"/>
                <a:cs typeface="IBM Plex Sans" pitchFamily="34" charset="-120"/>
              </a:rPr>
              <a:t>Basket items (business logic)</a:t>
            </a:r>
            <a:endParaRPr lang="en-US" sz="1200" dirty="0"/>
          </a:p>
        </p:txBody>
      </p:sp>
      <p:sp>
        <p:nvSpPr>
          <p:cNvPr id="25" name="Text 23"/>
          <p:cNvSpPr/>
          <p:nvPr/>
        </p:nvSpPr>
        <p:spPr>
          <a:xfrm>
            <a:off x="1066800" y="4170045"/>
            <a:ext cx="33835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2"/>
                </a:solidFill>
                <a:latin typeface="IBM Plex Sans" pitchFamily="34" charset="0"/>
                <a:ea typeface="IBM Plex Sans" pitchFamily="34" charset="-122"/>
                <a:cs typeface="IBM Plex Sans" pitchFamily="34" charset="-120"/>
              </a:rPr>
              <a:t>Admin configuration</a:t>
            </a:r>
            <a:endParaRPr lang="en-US" sz="1200" dirty="0"/>
          </a:p>
        </p:txBody>
      </p:sp>
      <p:sp>
        <p:nvSpPr>
          <p:cNvPr id="26" name="Text 24"/>
          <p:cNvSpPr/>
          <p:nvPr/>
        </p:nvSpPr>
        <p:spPr>
          <a:xfrm>
            <a:off x="4453414" y="4170045"/>
            <a:ext cx="3383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2"/>
                </a:solidFill>
                <a:latin typeface="IBM Plex Sans" pitchFamily="34" charset="0"/>
                <a:ea typeface="IBM Plex Sans" pitchFamily="34" charset="-122"/>
                <a:cs typeface="IBM Plex Sans" pitchFamily="34" charset="-120"/>
              </a:rPr>
              <a:t>Address book (create, list, IDOR)</a:t>
            </a:r>
            <a:endParaRPr lang="en-US" sz="1200" dirty="0"/>
          </a:p>
        </p:txBody>
      </p:sp>
      <p:sp>
        <p:nvSpPr>
          <p:cNvPr id="27" name="Text 25"/>
          <p:cNvSpPr/>
          <p:nvPr/>
        </p:nvSpPr>
        <p:spPr>
          <a:xfrm>
            <a:off x="7840107" y="4170045"/>
            <a:ext cx="3383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2"/>
                </a:solidFill>
                <a:latin typeface="IBM Plex Sans" pitchFamily="34" charset="0"/>
                <a:ea typeface="IBM Plex Sans" pitchFamily="34" charset="-122"/>
                <a:cs typeface="IBM Plex Sans" pitchFamily="34" charset="-120"/>
              </a:rPr>
              <a:t>Auth headers &amp; session tokens</a:t>
            </a:r>
            <a:endParaRPr lang="en-US" sz="1200" dirty="0"/>
          </a:p>
        </p:txBody>
      </p:sp>
      <p:sp>
        <p:nvSpPr>
          <p:cNvPr id="28" name="Text 26"/>
          <p:cNvSpPr/>
          <p:nvPr/>
        </p:nvSpPr>
        <p:spPr>
          <a:xfrm>
            <a:off x="812800" y="6256020"/>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29" name="Text 27"/>
          <p:cNvSpPr/>
          <p:nvPr/>
        </p:nvSpPr>
        <p:spPr>
          <a:xfrm>
            <a:off x="10373360" y="6256020"/>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15027"/>
          </a:xfrm>
          <a:prstGeom prst="rect">
            <a:avLst/>
          </a:prstGeom>
          <a:noFill/>
          <a:ln/>
        </p:spPr>
        <p:txBody>
          <a:bodyPr wrap="square" lIns="0" tIns="0" rIns="0" bIns="0" rtlCol="0" anchor="t">
            <a:normAutofit/>
          </a:bodyPr>
          <a:lstStyle/>
          <a:p>
            <a:pPr algn="l" indent="0" marL="0">
              <a:lnSpc>
                <a:spcPts val="1521"/>
              </a:lnSpc>
              <a:buNone/>
            </a:pPr>
            <a:r>
              <a:rPr lang="en-US" sz="1086" spc="100" kern="0" dirty="0">
                <a:solidFill>
                  <a:srgbClr val="2F5FCB"/>
                </a:solidFill>
                <a:latin typeface="JetBrains Mono" pitchFamily="49" charset="0"/>
                <a:ea typeface="JetBrains Mono" pitchFamily="49" charset="-122"/>
                <a:cs typeface="JetBrains Mono" pitchFamily="49" charset="-120"/>
              </a:rPr>
              <a:t>METHODOLOGY</a:t>
            </a:r>
            <a:endParaRPr lang="en-US" sz="1086" dirty="0"/>
          </a:p>
        </p:txBody>
      </p:sp>
      <p:sp>
        <p:nvSpPr>
          <p:cNvPr id="3" name="Text 1"/>
          <p:cNvSpPr/>
          <p:nvPr>
            <p:ph type="title"/>
          </p:nvPr>
        </p:nvSpPr>
        <p:spPr>
          <a:xfrm>
            <a:off x="812800" y="1104027"/>
            <a:ext cx="10883392" cy="478631"/>
          </a:xfrm>
          <a:prstGeom prst="rect">
            <a:avLst/>
          </a:prstGeom>
          <a:noFill/>
          <a:ln/>
        </p:spPr>
        <p:txBody>
          <a:bodyPr wrap="square" lIns="0" tIns="0" rIns="0" bIns="0" rtlCol="0" anchor="t">
            <a:normAutofit/>
          </a:bodyPr>
          <a:lstStyle/>
          <a:p>
            <a:pPr algn="l" indent="0" marL="0">
              <a:lnSpc>
                <a:spcPts val="3565"/>
              </a:lnSpc>
              <a:buNone/>
            </a:pPr>
            <a:r>
              <a:rPr lang="en-US" sz="3100" b="1" i="0" dirty="0">
                <a:solidFill>
                  <a:srgbClr val="142133"/>
                </a:solidFill>
                <a:latin typeface="IBM Plex Sans" pitchFamily="34" charset="0"/>
                <a:ea typeface="IBM Plex Sans" pitchFamily="34" charset="-122"/>
                <a:cs typeface="IBM Plex Sans" pitchFamily="34" charset="-120"/>
              </a:rPr>
              <a:t>Six steps, every test</a:t>
            </a:r>
            <a:endParaRPr lang="en-US" sz="3100" dirty="0"/>
          </a:p>
        </p:txBody>
      </p:sp>
      <p:sp>
        <p:nvSpPr>
          <p:cNvPr id="4" name="Shape 2"/>
          <p:cNvSpPr/>
          <p:nvPr/>
        </p:nvSpPr>
        <p:spPr>
          <a:xfrm>
            <a:off x="815975" y="1839833"/>
            <a:ext cx="3414157" cy="1396365"/>
          </a:xfrm>
          <a:prstGeom prst="roundRect">
            <a:avLst>
              <a:gd name="adj" fmla="val 8868"/>
            </a:avLst>
          </a:prstGeom>
          <a:solidFill>
            <a:srgbClr val="FFFFFF"/>
          </a:solidFill>
          <a:ln w="6350">
            <a:solidFill>
              <a:srgbClr val="E1E5EA"/>
            </a:solidFill>
            <a:prstDash val="solid"/>
          </a:ln>
        </p:spPr>
      </p:sp>
      <p:sp>
        <p:nvSpPr>
          <p:cNvPr id="5" name="Text 3"/>
          <p:cNvSpPr/>
          <p:nvPr/>
        </p:nvSpPr>
        <p:spPr>
          <a:xfrm>
            <a:off x="1021080" y="2044939"/>
            <a:ext cx="3094065" cy="331153"/>
          </a:xfrm>
          <a:prstGeom prst="rect">
            <a:avLst/>
          </a:prstGeom>
          <a:noFill/>
          <a:ln/>
        </p:spPr>
        <p:txBody>
          <a:bodyPr wrap="square" lIns="0" tIns="0" rIns="0" bIns="0" rtlCol="0" anchor="t">
            <a:normAutofit/>
          </a:bodyPr>
          <a:lstStyle/>
          <a:p>
            <a:pPr algn="l" indent="0" marL="0">
              <a:lnSpc>
                <a:spcPts val="2418"/>
              </a:lnSpc>
              <a:buNone/>
            </a:pPr>
            <a:r>
              <a:rPr lang="en-US" sz="1727" b="1" dirty="0">
                <a:solidFill>
                  <a:srgbClr val="2F5FCB"/>
                </a:solidFill>
                <a:latin typeface="JetBrains Mono" pitchFamily="49" charset="0"/>
                <a:ea typeface="JetBrains Mono" pitchFamily="49" charset="-122"/>
                <a:cs typeface="JetBrains Mono" pitchFamily="49" charset="-120"/>
              </a:rPr>
              <a:t>1</a:t>
            </a:r>
            <a:endParaRPr lang="en-US" sz="1727" dirty="0"/>
          </a:p>
        </p:txBody>
      </p:sp>
      <p:sp>
        <p:nvSpPr>
          <p:cNvPr id="6" name="Text 4"/>
          <p:cNvSpPr/>
          <p:nvPr/>
        </p:nvSpPr>
        <p:spPr>
          <a:xfrm>
            <a:off x="1021080" y="2414191"/>
            <a:ext cx="3094065" cy="222012"/>
          </a:xfrm>
          <a:prstGeom prst="rect">
            <a:avLst/>
          </a:prstGeom>
          <a:noFill/>
          <a:ln/>
        </p:spPr>
        <p:txBody>
          <a:bodyPr wrap="square" lIns="0" tIns="0" rIns="0" bIns="0" rtlCol="0" anchor="t">
            <a:normAutofit/>
          </a:bodyPr>
          <a:lstStyle/>
          <a:p>
            <a:pPr algn="l" indent="0" marL="0">
              <a:lnSpc>
                <a:spcPts val="1574"/>
              </a:lnSpc>
              <a:buNone/>
            </a:pPr>
            <a:r>
              <a:rPr lang="en-US" sz="1312" b="1" dirty="0">
                <a:solidFill>
                  <a:srgbClr val="142133"/>
                </a:solidFill>
                <a:latin typeface="IBM Plex Sans" pitchFamily="34" charset="0"/>
                <a:ea typeface="IBM Plex Sans" pitchFamily="34" charset="-122"/>
                <a:cs typeface="IBM Plex Sans" pitchFamily="34" charset="-120"/>
              </a:rPr>
              <a:t>Proxy configuration</a:t>
            </a:r>
            <a:endParaRPr lang="en-US" sz="1312" dirty="0"/>
          </a:p>
        </p:txBody>
      </p:sp>
      <p:sp>
        <p:nvSpPr>
          <p:cNvPr id="7" name="Text 5"/>
          <p:cNvSpPr/>
          <p:nvPr/>
        </p:nvSpPr>
        <p:spPr>
          <a:xfrm>
            <a:off x="1021080" y="2674303"/>
            <a:ext cx="3094065" cy="382191"/>
          </a:xfrm>
          <a:prstGeom prst="rect">
            <a:avLst/>
          </a:prstGeom>
          <a:noFill/>
          <a:ln/>
        </p:spPr>
        <p:txBody>
          <a:bodyPr wrap="square" lIns="0" tIns="0" rIns="0" bIns="0" rtlCol="0" anchor="t">
            <a:normAutofit/>
          </a:bodyPr>
          <a:lstStyle/>
          <a:p>
            <a:pPr algn="l" indent="0" marL="0">
              <a:lnSpc>
                <a:spcPts val="1410"/>
              </a:lnSpc>
              <a:buNone/>
            </a:pPr>
            <a:r>
              <a:rPr lang="en-US" sz="1007" dirty="0">
                <a:solidFill>
                  <a:srgbClr val="51607A"/>
                </a:solidFill>
                <a:latin typeface="IBM Plex Sans" pitchFamily="34" charset="0"/>
                <a:ea typeface="IBM Plex Sans" pitchFamily="34" charset="-122"/>
                <a:cs typeface="IBM Plex Sans" pitchFamily="34" charset="-120"/>
              </a:rPr>
              <a:t>Route browser traffic through Burp to observe every request/response</a:t>
            </a:r>
            <a:endParaRPr lang="en-US" sz="1007" dirty="0"/>
          </a:p>
        </p:txBody>
      </p:sp>
      <p:sp>
        <p:nvSpPr>
          <p:cNvPr id="8" name="Shape 6"/>
          <p:cNvSpPr/>
          <p:nvPr/>
        </p:nvSpPr>
        <p:spPr>
          <a:xfrm>
            <a:off x="4388882" y="1839833"/>
            <a:ext cx="3414157" cy="1396365"/>
          </a:xfrm>
          <a:prstGeom prst="roundRect">
            <a:avLst>
              <a:gd name="adj" fmla="val 8868"/>
            </a:avLst>
          </a:prstGeom>
          <a:solidFill>
            <a:srgbClr val="FFFFFF"/>
          </a:solidFill>
          <a:ln w="6350">
            <a:solidFill>
              <a:srgbClr val="E1E5EA"/>
            </a:solidFill>
            <a:prstDash val="solid"/>
          </a:ln>
        </p:spPr>
      </p:sp>
      <p:sp>
        <p:nvSpPr>
          <p:cNvPr id="9" name="Text 7"/>
          <p:cNvSpPr/>
          <p:nvPr/>
        </p:nvSpPr>
        <p:spPr>
          <a:xfrm>
            <a:off x="4593987" y="2044939"/>
            <a:ext cx="3094065" cy="331153"/>
          </a:xfrm>
          <a:prstGeom prst="rect">
            <a:avLst/>
          </a:prstGeom>
          <a:noFill/>
          <a:ln/>
        </p:spPr>
        <p:txBody>
          <a:bodyPr wrap="square" lIns="0" tIns="0" rIns="0" bIns="0" rtlCol="0" anchor="t">
            <a:normAutofit/>
          </a:bodyPr>
          <a:lstStyle/>
          <a:p>
            <a:pPr algn="l" indent="0" marL="0">
              <a:lnSpc>
                <a:spcPts val="2418"/>
              </a:lnSpc>
              <a:buNone/>
            </a:pPr>
            <a:r>
              <a:rPr lang="en-US" sz="1727" b="1" dirty="0">
                <a:solidFill>
                  <a:srgbClr val="2F5FCB"/>
                </a:solidFill>
                <a:latin typeface="JetBrains Mono" pitchFamily="49" charset="0"/>
                <a:ea typeface="JetBrains Mono" pitchFamily="49" charset="-122"/>
                <a:cs typeface="JetBrains Mono" pitchFamily="49" charset="-120"/>
              </a:rPr>
              <a:t>2</a:t>
            </a:r>
            <a:endParaRPr lang="en-US" sz="1727" dirty="0"/>
          </a:p>
        </p:txBody>
      </p:sp>
      <p:sp>
        <p:nvSpPr>
          <p:cNvPr id="10" name="Text 8"/>
          <p:cNvSpPr/>
          <p:nvPr/>
        </p:nvSpPr>
        <p:spPr>
          <a:xfrm>
            <a:off x="4593987" y="2414191"/>
            <a:ext cx="3094065" cy="222012"/>
          </a:xfrm>
          <a:prstGeom prst="rect">
            <a:avLst/>
          </a:prstGeom>
          <a:noFill/>
          <a:ln/>
        </p:spPr>
        <p:txBody>
          <a:bodyPr wrap="square" lIns="0" tIns="0" rIns="0" bIns="0" rtlCol="0" anchor="t">
            <a:normAutofit/>
          </a:bodyPr>
          <a:lstStyle/>
          <a:p>
            <a:pPr algn="l" indent="0" marL="0">
              <a:lnSpc>
                <a:spcPts val="1574"/>
              </a:lnSpc>
              <a:buNone/>
            </a:pPr>
            <a:r>
              <a:rPr lang="en-US" sz="1312" b="1" dirty="0">
                <a:solidFill>
                  <a:srgbClr val="142133"/>
                </a:solidFill>
                <a:latin typeface="IBM Plex Sans" pitchFamily="34" charset="0"/>
                <a:ea typeface="IBM Plex Sans" pitchFamily="34" charset="-122"/>
                <a:cs typeface="IBM Plex Sans" pitchFamily="34" charset="-120"/>
              </a:rPr>
              <a:t>Application mapping</a:t>
            </a:r>
            <a:endParaRPr lang="en-US" sz="1312" dirty="0"/>
          </a:p>
        </p:txBody>
      </p:sp>
      <p:sp>
        <p:nvSpPr>
          <p:cNvPr id="11" name="Text 9"/>
          <p:cNvSpPr/>
          <p:nvPr/>
        </p:nvSpPr>
        <p:spPr>
          <a:xfrm>
            <a:off x="4593987" y="2674303"/>
            <a:ext cx="3094065" cy="382191"/>
          </a:xfrm>
          <a:prstGeom prst="rect">
            <a:avLst/>
          </a:prstGeom>
          <a:noFill/>
          <a:ln/>
        </p:spPr>
        <p:txBody>
          <a:bodyPr wrap="square" lIns="0" tIns="0" rIns="0" bIns="0" rtlCol="0" anchor="t">
            <a:normAutofit/>
          </a:bodyPr>
          <a:lstStyle/>
          <a:p>
            <a:pPr algn="l" indent="0" marL="0">
              <a:lnSpc>
                <a:spcPts val="1410"/>
              </a:lnSpc>
              <a:buNone/>
            </a:pPr>
            <a:r>
              <a:rPr lang="en-US" sz="1007" dirty="0">
                <a:solidFill>
                  <a:srgbClr val="51607A"/>
                </a:solidFill>
                <a:latin typeface="IBM Plex Sans" pitchFamily="34" charset="0"/>
                <a:ea typeface="IBM Plex Sans" pitchFamily="34" charset="-122"/>
                <a:cs typeface="IBM Plex Sans" pitchFamily="34" charset="-120"/>
              </a:rPr>
              <a:t>Exercise core features to populate HTTP history and find endpoints, IDs, tokens</a:t>
            </a:r>
            <a:endParaRPr lang="en-US" sz="1007" dirty="0"/>
          </a:p>
        </p:txBody>
      </p:sp>
      <p:sp>
        <p:nvSpPr>
          <p:cNvPr id="12" name="Shape 10"/>
          <p:cNvSpPr/>
          <p:nvPr/>
        </p:nvSpPr>
        <p:spPr>
          <a:xfrm>
            <a:off x="7961789" y="1839833"/>
            <a:ext cx="3414157" cy="1396365"/>
          </a:xfrm>
          <a:prstGeom prst="roundRect">
            <a:avLst>
              <a:gd name="adj" fmla="val 8868"/>
            </a:avLst>
          </a:prstGeom>
          <a:solidFill>
            <a:srgbClr val="FFFFFF"/>
          </a:solidFill>
          <a:ln w="6350">
            <a:solidFill>
              <a:srgbClr val="E1E5EA"/>
            </a:solidFill>
            <a:prstDash val="solid"/>
          </a:ln>
        </p:spPr>
      </p:sp>
      <p:sp>
        <p:nvSpPr>
          <p:cNvPr id="13" name="Text 11"/>
          <p:cNvSpPr/>
          <p:nvPr/>
        </p:nvSpPr>
        <p:spPr>
          <a:xfrm>
            <a:off x="8166894" y="2044939"/>
            <a:ext cx="3094065" cy="331153"/>
          </a:xfrm>
          <a:prstGeom prst="rect">
            <a:avLst/>
          </a:prstGeom>
          <a:noFill/>
          <a:ln/>
        </p:spPr>
        <p:txBody>
          <a:bodyPr wrap="square" lIns="0" tIns="0" rIns="0" bIns="0" rtlCol="0" anchor="t">
            <a:normAutofit/>
          </a:bodyPr>
          <a:lstStyle/>
          <a:p>
            <a:pPr algn="l" indent="0" marL="0">
              <a:lnSpc>
                <a:spcPts val="2418"/>
              </a:lnSpc>
              <a:buNone/>
            </a:pPr>
            <a:r>
              <a:rPr lang="en-US" sz="1727" b="1" dirty="0">
                <a:solidFill>
                  <a:srgbClr val="2F5FCB"/>
                </a:solidFill>
                <a:latin typeface="JetBrains Mono" pitchFamily="49" charset="0"/>
                <a:ea typeface="JetBrains Mono" pitchFamily="49" charset="-122"/>
                <a:cs typeface="JetBrains Mono" pitchFamily="49" charset="-120"/>
              </a:rPr>
              <a:t>3</a:t>
            </a:r>
            <a:endParaRPr lang="en-US" sz="1727" dirty="0"/>
          </a:p>
        </p:txBody>
      </p:sp>
      <p:sp>
        <p:nvSpPr>
          <p:cNvPr id="14" name="Text 12"/>
          <p:cNvSpPr/>
          <p:nvPr/>
        </p:nvSpPr>
        <p:spPr>
          <a:xfrm>
            <a:off x="8166894" y="2414191"/>
            <a:ext cx="3094065" cy="222012"/>
          </a:xfrm>
          <a:prstGeom prst="rect">
            <a:avLst/>
          </a:prstGeom>
          <a:noFill/>
          <a:ln/>
        </p:spPr>
        <p:txBody>
          <a:bodyPr wrap="square" lIns="0" tIns="0" rIns="0" bIns="0" rtlCol="0" anchor="t">
            <a:normAutofit/>
          </a:bodyPr>
          <a:lstStyle/>
          <a:p>
            <a:pPr algn="l" indent="0" marL="0">
              <a:lnSpc>
                <a:spcPts val="1574"/>
              </a:lnSpc>
              <a:buNone/>
            </a:pPr>
            <a:r>
              <a:rPr lang="en-US" sz="1312" b="1" dirty="0">
                <a:solidFill>
                  <a:srgbClr val="142133"/>
                </a:solidFill>
                <a:latin typeface="IBM Plex Sans" pitchFamily="34" charset="0"/>
                <a:ea typeface="IBM Plex Sans" pitchFamily="34" charset="-122"/>
                <a:cs typeface="IBM Plex Sans" pitchFamily="34" charset="-120"/>
              </a:rPr>
              <a:t>Repeater tampering</a:t>
            </a:r>
            <a:endParaRPr lang="en-US" sz="1312" dirty="0"/>
          </a:p>
        </p:txBody>
      </p:sp>
      <p:sp>
        <p:nvSpPr>
          <p:cNvPr id="15" name="Text 13"/>
          <p:cNvSpPr/>
          <p:nvPr/>
        </p:nvSpPr>
        <p:spPr>
          <a:xfrm>
            <a:off x="8166894" y="2674303"/>
            <a:ext cx="3094065" cy="382191"/>
          </a:xfrm>
          <a:prstGeom prst="rect">
            <a:avLst/>
          </a:prstGeom>
          <a:noFill/>
          <a:ln/>
        </p:spPr>
        <p:txBody>
          <a:bodyPr wrap="square" lIns="0" tIns="0" rIns="0" bIns="0" rtlCol="0" anchor="t">
            <a:normAutofit/>
          </a:bodyPr>
          <a:lstStyle/>
          <a:p>
            <a:pPr algn="l" indent="0" marL="0">
              <a:lnSpc>
                <a:spcPts val="1410"/>
              </a:lnSpc>
              <a:buNone/>
            </a:pPr>
            <a:r>
              <a:rPr lang="en-US" sz="1007" dirty="0">
                <a:solidFill>
                  <a:srgbClr val="51607A"/>
                </a:solidFill>
                <a:latin typeface="IBM Plex Sans" pitchFamily="34" charset="0"/>
                <a:ea typeface="IBM Plex Sans" pitchFamily="34" charset="-122"/>
                <a:cs typeface="IBM Plex Sans" pitchFamily="34" charset="-120"/>
              </a:rPr>
              <a:t>Modify and replay search terms, object IDs and headers without repeating the UI action</a:t>
            </a:r>
            <a:endParaRPr lang="en-US" sz="1007" dirty="0"/>
          </a:p>
        </p:txBody>
      </p:sp>
      <p:sp>
        <p:nvSpPr>
          <p:cNvPr id="16" name="Shape 14"/>
          <p:cNvSpPr/>
          <p:nvPr/>
        </p:nvSpPr>
        <p:spPr>
          <a:xfrm>
            <a:off x="815975" y="3394948"/>
            <a:ext cx="3414157" cy="1396444"/>
          </a:xfrm>
          <a:prstGeom prst="roundRect">
            <a:avLst>
              <a:gd name="adj" fmla="val 8867"/>
            </a:avLst>
          </a:prstGeom>
          <a:solidFill>
            <a:srgbClr val="FFFFFF"/>
          </a:solidFill>
          <a:ln w="6350">
            <a:solidFill>
              <a:srgbClr val="E1E5EA"/>
            </a:solidFill>
            <a:prstDash val="solid"/>
          </a:ln>
        </p:spPr>
      </p:sp>
      <p:sp>
        <p:nvSpPr>
          <p:cNvPr id="17" name="Text 15"/>
          <p:cNvSpPr/>
          <p:nvPr/>
        </p:nvSpPr>
        <p:spPr>
          <a:xfrm>
            <a:off x="1021080" y="3600053"/>
            <a:ext cx="3094065" cy="331232"/>
          </a:xfrm>
          <a:prstGeom prst="rect">
            <a:avLst/>
          </a:prstGeom>
          <a:noFill/>
          <a:ln/>
        </p:spPr>
        <p:txBody>
          <a:bodyPr wrap="square" lIns="0" tIns="0" rIns="0" bIns="0" rtlCol="0" anchor="t">
            <a:normAutofit/>
          </a:bodyPr>
          <a:lstStyle/>
          <a:p>
            <a:pPr algn="l" indent="0" marL="0">
              <a:lnSpc>
                <a:spcPts val="2418"/>
              </a:lnSpc>
              <a:buNone/>
            </a:pPr>
            <a:r>
              <a:rPr lang="en-US" sz="1727" b="1" dirty="0">
                <a:solidFill>
                  <a:srgbClr val="2F5FCB"/>
                </a:solidFill>
                <a:latin typeface="JetBrains Mono" pitchFamily="49" charset="0"/>
                <a:ea typeface="JetBrains Mono" pitchFamily="49" charset="-122"/>
                <a:cs typeface="JetBrains Mono" pitchFamily="49" charset="-120"/>
              </a:rPr>
              <a:t>4</a:t>
            </a:r>
            <a:endParaRPr lang="en-US" sz="1727" dirty="0"/>
          </a:p>
        </p:txBody>
      </p:sp>
      <p:sp>
        <p:nvSpPr>
          <p:cNvPr id="18" name="Text 16"/>
          <p:cNvSpPr/>
          <p:nvPr/>
        </p:nvSpPr>
        <p:spPr>
          <a:xfrm>
            <a:off x="1021080" y="3969386"/>
            <a:ext cx="3094065" cy="222012"/>
          </a:xfrm>
          <a:prstGeom prst="rect">
            <a:avLst/>
          </a:prstGeom>
          <a:noFill/>
          <a:ln/>
        </p:spPr>
        <p:txBody>
          <a:bodyPr wrap="square" lIns="0" tIns="0" rIns="0" bIns="0" rtlCol="0" anchor="t">
            <a:normAutofit/>
          </a:bodyPr>
          <a:lstStyle/>
          <a:p>
            <a:pPr algn="l" indent="0" marL="0">
              <a:lnSpc>
                <a:spcPts val="1574"/>
              </a:lnSpc>
              <a:buNone/>
            </a:pPr>
            <a:r>
              <a:rPr lang="en-US" sz="1312" b="1" dirty="0">
                <a:solidFill>
                  <a:srgbClr val="142133"/>
                </a:solidFill>
                <a:latin typeface="IBM Plex Sans" pitchFamily="34" charset="0"/>
                <a:ea typeface="IBM Plex Sans" pitchFamily="34" charset="-122"/>
                <a:cs typeface="IBM Plex Sans" pitchFamily="34" charset="-120"/>
              </a:rPr>
              <a:t>Response comparison</a:t>
            </a:r>
            <a:endParaRPr lang="en-US" sz="1312" dirty="0"/>
          </a:p>
        </p:txBody>
      </p:sp>
      <p:sp>
        <p:nvSpPr>
          <p:cNvPr id="19" name="Text 17"/>
          <p:cNvSpPr/>
          <p:nvPr/>
        </p:nvSpPr>
        <p:spPr>
          <a:xfrm>
            <a:off x="1021080" y="4229497"/>
            <a:ext cx="3094065" cy="382191"/>
          </a:xfrm>
          <a:prstGeom prst="rect">
            <a:avLst/>
          </a:prstGeom>
          <a:noFill/>
          <a:ln/>
        </p:spPr>
        <p:txBody>
          <a:bodyPr wrap="square" lIns="0" tIns="0" rIns="0" bIns="0" rtlCol="0" anchor="t">
            <a:normAutofit/>
          </a:bodyPr>
          <a:lstStyle/>
          <a:p>
            <a:pPr algn="l" indent="0" marL="0">
              <a:lnSpc>
                <a:spcPts val="1410"/>
              </a:lnSpc>
              <a:buNone/>
            </a:pPr>
            <a:r>
              <a:rPr lang="en-US" sz="1007" dirty="0">
                <a:solidFill>
                  <a:srgbClr val="51607A"/>
                </a:solidFill>
                <a:latin typeface="IBM Plex Sans" pitchFamily="34" charset="0"/>
                <a:ea typeface="IBM Plex Sans" pitchFamily="34" charset="-122"/>
                <a:cs typeface="IBM Plex Sans" pitchFamily="34" charset="-120"/>
              </a:rPr>
              <a:t>Compare status, body and error content against the original/expected behavior</a:t>
            </a:r>
            <a:endParaRPr lang="en-US" sz="1007" dirty="0"/>
          </a:p>
        </p:txBody>
      </p:sp>
      <p:sp>
        <p:nvSpPr>
          <p:cNvPr id="20" name="Shape 18"/>
          <p:cNvSpPr/>
          <p:nvPr/>
        </p:nvSpPr>
        <p:spPr>
          <a:xfrm>
            <a:off x="4388882" y="3394948"/>
            <a:ext cx="3414157" cy="1396444"/>
          </a:xfrm>
          <a:prstGeom prst="roundRect">
            <a:avLst>
              <a:gd name="adj" fmla="val 8867"/>
            </a:avLst>
          </a:prstGeom>
          <a:solidFill>
            <a:srgbClr val="FFFFFF"/>
          </a:solidFill>
          <a:ln w="6350">
            <a:solidFill>
              <a:srgbClr val="E1E5EA"/>
            </a:solidFill>
            <a:prstDash val="solid"/>
          </a:ln>
        </p:spPr>
      </p:sp>
      <p:sp>
        <p:nvSpPr>
          <p:cNvPr id="21" name="Text 19"/>
          <p:cNvSpPr/>
          <p:nvPr/>
        </p:nvSpPr>
        <p:spPr>
          <a:xfrm>
            <a:off x="4593987" y="3600053"/>
            <a:ext cx="3094065" cy="331232"/>
          </a:xfrm>
          <a:prstGeom prst="rect">
            <a:avLst/>
          </a:prstGeom>
          <a:noFill/>
          <a:ln/>
        </p:spPr>
        <p:txBody>
          <a:bodyPr wrap="square" lIns="0" tIns="0" rIns="0" bIns="0" rtlCol="0" anchor="t">
            <a:normAutofit/>
          </a:bodyPr>
          <a:lstStyle/>
          <a:p>
            <a:pPr algn="l" indent="0" marL="0">
              <a:lnSpc>
                <a:spcPts val="2418"/>
              </a:lnSpc>
              <a:buNone/>
            </a:pPr>
            <a:r>
              <a:rPr lang="en-US" sz="1727" b="1" dirty="0">
                <a:solidFill>
                  <a:srgbClr val="2F5FCB"/>
                </a:solidFill>
                <a:latin typeface="JetBrains Mono" pitchFamily="49" charset="0"/>
                <a:ea typeface="JetBrains Mono" pitchFamily="49" charset="-122"/>
                <a:cs typeface="JetBrains Mono" pitchFamily="49" charset="-120"/>
              </a:rPr>
              <a:t>5</a:t>
            </a:r>
            <a:endParaRPr lang="en-US" sz="1727" dirty="0"/>
          </a:p>
        </p:txBody>
      </p:sp>
      <p:sp>
        <p:nvSpPr>
          <p:cNvPr id="22" name="Text 20"/>
          <p:cNvSpPr/>
          <p:nvPr/>
        </p:nvSpPr>
        <p:spPr>
          <a:xfrm>
            <a:off x="4593987" y="3969386"/>
            <a:ext cx="3094065" cy="222012"/>
          </a:xfrm>
          <a:prstGeom prst="rect">
            <a:avLst/>
          </a:prstGeom>
          <a:noFill/>
          <a:ln/>
        </p:spPr>
        <p:txBody>
          <a:bodyPr wrap="square" lIns="0" tIns="0" rIns="0" bIns="0" rtlCol="0" anchor="t">
            <a:normAutofit/>
          </a:bodyPr>
          <a:lstStyle/>
          <a:p>
            <a:pPr algn="l" indent="0" marL="0">
              <a:lnSpc>
                <a:spcPts val="1574"/>
              </a:lnSpc>
              <a:buNone/>
            </a:pPr>
            <a:r>
              <a:rPr lang="en-US" sz="1312" b="1" dirty="0">
                <a:solidFill>
                  <a:srgbClr val="142133"/>
                </a:solidFill>
                <a:latin typeface="IBM Plex Sans" pitchFamily="34" charset="0"/>
                <a:ea typeface="IBM Plex Sans" pitchFamily="34" charset="-122"/>
                <a:cs typeface="IBM Plex Sans" pitchFamily="34" charset="-120"/>
              </a:rPr>
              <a:t>Authorization validation</a:t>
            </a:r>
            <a:endParaRPr lang="en-US" sz="1312" dirty="0"/>
          </a:p>
        </p:txBody>
      </p:sp>
      <p:sp>
        <p:nvSpPr>
          <p:cNvPr id="23" name="Text 21"/>
          <p:cNvSpPr/>
          <p:nvPr/>
        </p:nvSpPr>
        <p:spPr>
          <a:xfrm>
            <a:off x="4593987" y="4229497"/>
            <a:ext cx="3094065" cy="382191"/>
          </a:xfrm>
          <a:prstGeom prst="rect">
            <a:avLst/>
          </a:prstGeom>
          <a:noFill/>
          <a:ln/>
        </p:spPr>
        <p:txBody>
          <a:bodyPr wrap="square" lIns="0" tIns="0" rIns="0" bIns="0" rtlCol="0" anchor="t">
            <a:normAutofit/>
          </a:bodyPr>
          <a:lstStyle/>
          <a:p>
            <a:pPr algn="l" indent="0" marL="0">
              <a:lnSpc>
                <a:spcPts val="1410"/>
              </a:lnSpc>
              <a:buNone/>
            </a:pPr>
            <a:r>
              <a:rPr lang="en-US" sz="1007" dirty="0">
                <a:solidFill>
                  <a:srgbClr val="51607A"/>
                </a:solidFill>
                <a:latin typeface="IBM Plex Sans" pitchFamily="34" charset="0"/>
                <a:ea typeface="IBM Plex Sans" pitchFamily="34" charset="-122"/>
                <a:cs typeface="IBM Plex Sans" pitchFamily="34" charset="-120"/>
              </a:rPr>
              <a:t>Replay with/without the Authorization header and across two accounts' tokens</a:t>
            </a:r>
            <a:endParaRPr lang="en-US" sz="1007" dirty="0"/>
          </a:p>
        </p:txBody>
      </p:sp>
      <p:sp>
        <p:nvSpPr>
          <p:cNvPr id="24" name="Shape 22"/>
          <p:cNvSpPr/>
          <p:nvPr/>
        </p:nvSpPr>
        <p:spPr>
          <a:xfrm>
            <a:off x="7961789" y="3394948"/>
            <a:ext cx="3414157" cy="1396444"/>
          </a:xfrm>
          <a:prstGeom prst="roundRect">
            <a:avLst>
              <a:gd name="adj" fmla="val 8867"/>
            </a:avLst>
          </a:prstGeom>
          <a:solidFill>
            <a:srgbClr val="FFFFFF"/>
          </a:solidFill>
          <a:ln w="6350">
            <a:solidFill>
              <a:srgbClr val="E1E5EA"/>
            </a:solidFill>
            <a:prstDash val="solid"/>
          </a:ln>
        </p:spPr>
      </p:sp>
      <p:sp>
        <p:nvSpPr>
          <p:cNvPr id="25" name="Text 23"/>
          <p:cNvSpPr/>
          <p:nvPr/>
        </p:nvSpPr>
        <p:spPr>
          <a:xfrm>
            <a:off x="8166894" y="3600053"/>
            <a:ext cx="3094065" cy="331232"/>
          </a:xfrm>
          <a:prstGeom prst="rect">
            <a:avLst/>
          </a:prstGeom>
          <a:noFill/>
          <a:ln/>
        </p:spPr>
        <p:txBody>
          <a:bodyPr wrap="square" lIns="0" tIns="0" rIns="0" bIns="0" rtlCol="0" anchor="t">
            <a:normAutofit/>
          </a:bodyPr>
          <a:lstStyle/>
          <a:p>
            <a:pPr algn="l" indent="0" marL="0">
              <a:lnSpc>
                <a:spcPts val="2418"/>
              </a:lnSpc>
              <a:buNone/>
            </a:pPr>
            <a:r>
              <a:rPr lang="en-US" sz="1727" b="1" dirty="0">
                <a:solidFill>
                  <a:srgbClr val="2F5FCB"/>
                </a:solidFill>
                <a:latin typeface="JetBrains Mono" pitchFamily="49" charset="0"/>
                <a:ea typeface="JetBrains Mono" pitchFamily="49" charset="-122"/>
                <a:cs typeface="JetBrains Mono" pitchFamily="49" charset="-120"/>
              </a:rPr>
              <a:t>6</a:t>
            </a:r>
            <a:endParaRPr lang="en-US" sz="1727" dirty="0"/>
          </a:p>
        </p:txBody>
      </p:sp>
      <p:sp>
        <p:nvSpPr>
          <p:cNvPr id="26" name="Text 24"/>
          <p:cNvSpPr/>
          <p:nvPr/>
        </p:nvSpPr>
        <p:spPr>
          <a:xfrm>
            <a:off x="8166894" y="3969386"/>
            <a:ext cx="3094065" cy="222012"/>
          </a:xfrm>
          <a:prstGeom prst="rect">
            <a:avLst/>
          </a:prstGeom>
          <a:noFill/>
          <a:ln/>
        </p:spPr>
        <p:txBody>
          <a:bodyPr wrap="square" lIns="0" tIns="0" rIns="0" bIns="0" rtlCol="0" anchor="t">
            <a:normAutofit/>
          </a:bodyPr>
          <a:lstStyle/>
          <a:p>
            <a:pPr algn="l" indent="0" marL="0">
              <a:lnSpc>
                <a:spcPts val="1574"/>
              </a:lnSpc>
              <a:buNone/>
            </a:pPr>
            <a:r>
              <a:rPr lang="en-US" sz="1312" b="1" dirty="0">
                <a:solidFill>
                  <a:srgbClr val="142133"/>
                </a:solidFill>
                <a:latin typeface="IBM Plex Sans" pitchFamily="34" charset="0"/>
                <a:ea typeface="IBM Plex Sans" pitchFamily="34" charset="-122"/>
                <a:cs typeface="IBM Plex Sans" pitchFamily="34" charset="-120"/>
              </a:rPr>
              <a:t>Evidence capture</a:t>
            </a:r>
            <a:endParaRPr lang="en-US" sz="1312" dirty="0"/>
          </a:p>
        </p:txBody>
      </p:sp>
      <p:sp>
        <p:nvSpPr>
          <p:cNvPr id="27" name="Text 25"/>
          <p:cNvSpPr/>
          <p:nvPr/>
        </p:nvSpPr>
        <p:spPr>
          <a:xfrm>
            <a:off x="8166894" y="4229497"/>
            <a:ext cx="3094065" cy="382191"/>
          </a:xfrm>
          <a:prstGeom prst="rect">
            <a:avLst/>
          </a:prstGeom>
          <a:noFill/>
          <a:ln/>
        </p:spPr>
        <p:txBody>
          <a:bodyPr wrap="square" lIns="0" tIns="0" rIns="0" bIns="0" rtlCol="0" anchor="t">
            <a:normAutofit/>
          </a:bodyPr>
          <a:lstStyle/>
          <a:p>
            <a:pPr algn="l" indent="0" marL="0">
              <a:lnSpc>
                <a:spcPts val="1410"/>
              </a:lnSpc>
              <a:buNone/>
            </a:pPr>
            <a:r>
              <a:rPr lang="en-US" sz="1007" dirty="0">
                <a:solidFill>
                  <a:srgbClr val="51607A"/>
                </a:solidFill>
                <a:latin typeface="IBM Plex Sans" pitchFamily="34" charset="0"/>
                <a:ea typeface="IBM Plex Sans" pitchFamily="34" charset="-122"/>
                <a:cs typeface="IBM Plex Sans" pitchFamily="34" charset="-120"/>
              </a:rPr>
              <a:t>Screenshot the original request, modified request and full response for every test</a:t>
            </a:r>
            <a:endParaRPr lang="en-US" sz="1007" dirty="0"/>
          </a:p>
        </p:txBody>
      </p:sp>
      <p:sp>
        <p:nvSpPr>
          <p:cNvPr id="28" name="Text 26"/>
          <p:cNvSpPr/>
          <p:nvPr/>
        </p:nvSpPr>
        <p:spPr>
          <a:xfrm>
            <a:off x="812800" y="5073968"/>
            <a:ext cx="10566400" cy="768033"/>
          </a:xfrm>
          <a:prstGeom prst="roundRect">
            <a:avLst>
              <a:gd name="adj" fmla="val 9921"/>
            </a:avLst>
          </a:prstGeom>
          <a:solidFill>
            <a:srgbClr val="EAF0FB"/>
          </a:solidFill>
          <a:ln/>
        </p:spPr>
        <p:txBody>
          <a:bodyPr wrap="square" lIns="241842" tIns="155482" rIns="0" bIns="130082" rtlCol="0" anchor="t">
            <a:normAutofit/>
          </a:bodyPr>
          <a:lstStyle/>
          <a:p>
            <a:pPr algn="l" indent="0" marL="0">
              <a:lnSpc>
                <a:spcPts val="1636"/>
              </a:lnSpc>
              <a:buNone/>
            </a:pPr>
            <a:r>
              <a:rPr lang="en-US" sz="1128" dirty="0">
                <a:solidFill>
                  <a:srgbClr val="1F3A6B"/>
                </a:solidFill>
                <a:latin typeface="IBM Plex Sans" pitchFamily="34" charset="0"/>
                <a:ea typeface="IBM Plex Sans" pitchFamily="34" charset="-122"/>
                <a:cs typeface="IBM Plex Sans" pitchFamily="34" charset="-120"/>
              </a:rPr>
              <a:t>A finding is recorded only when the response </a:t>
            </a:r>
            <a:r>
              <a:rPr lang="en-US" sz="1128" b="1" dirty="0">
                <a:solidFill>
                  <a:srgbClr val="1F3A6B"/>
                </a:solidFill>
                <a:latin typeface="IBM Plex Sans" pitchFamily="34" charset="0"/>
                <a:ea typeface="IBM Plex Sans" pitchFamily="34" charset="-122"/>
                <a:cs typeface="IBM Plex Sans" pitchFamily="34" charset="-120"/>
              </a:rPr>
              <a:t>demonstrates</a:t>
            </a:r>
            <a:r>
              <a:rPr lang="en-US" sz="1128" dirty="0">
                <a:solidFill>
                  <a:srgbClr val="1F3A6B"/>
                </a:solidFill>
                <a:latin typeface="IBM Plex Sans" pitchFamily="34" charset="0"/>
                <a:ea typeface="IBM Plex Sans" pitchFamily="34" charset="-122"/>
                <a:cs typeface="IBM Plex Sans" pitchFamily="34" charset="-120"/>
              </a:rPr>
              <a:t> unauthorized action or disclosure. A correctly rejected request (e.g. 401) is logged as a working control, not a vulnerability.</a:t>
            </a:r>
            <a:endParaRPr lang="en-US" sz="1128" dirty="0"/>
          </a:p>
        </p:txBody>
      </p:sp>
      <p:sp>
        <p:nvSpPr>
          <p:cNvPr id="29" name="Shape 27"/>
          <p:cNvSpPr/>
          <p:nvPr/>
        </p:nvSpPr>
        <p:spPr>
          <a:xfrm>
            <a:off x="812800" y="5073968"/>
            <a:ext cx="10566400" cy="768033"/>
          </a:xfrm>
          <a:custGeom>
            <a:avLst/>
            <a:gdLst/>
            <a:ahLst/>
            <a:cxnLst/>
            <a:rect l="l" t="t" r="r" b="b"/>
            <a:pathLst>
              <a:path w="10566400" h="768033">
                <a:moveTo>
                  <a:pt x="76200" y="768033"/>
                </a:moveTo>
                <a:lnTo>
                  <a:pt x="76200" y="768033"/>
                </a:lnTo>
                <a:arcTo hR="76200" wR="76200" stAng="5400000" swAng="5400000"/>
                <a:lnTo>
                  <a:pt x="0" y="76200"/>
                </a:lnTo>
                <a:arcTo hR="76200" wR="76200" stAng="10800000" swAng="5400000"/>
                <a:lnTo>
                  <a:pt x="76200" y="0"/>
                </a:lnTo>
                <a:arcTo hR="76200" wR="38100" stAng="16200000" swAng="-5400000"/>
                <a:lnTo>
                  <a:pt x="38100" y="691833"/>
                </a:lnTo>
                <a:arcTo hR="76200" wR="38100" stAng="10800000" swAng="-5400000"/>
                <a:close/>
              </a:path>
            </a:pathLst>
          </a:custGeom>
          <a:solidFill>
            <a:srgbClr val="2F5FCB"/>
          </a:solidFill>
          <a:ln/>
        </p:spPr>
      </p:sp>
      <p:sp>
        <p:nvSpPr>
          <p:cNvPr id="30" name="Text 28"/>
          <p:cNvSpPr/>
          <p:nvPr/>
        </p:nvSpPr>
        <p:spPr>
          <a:xfrm>
            <a:off x="812800" y="6256021"/>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31" name="Text 29"/>
          <p:cNvSpPr/>
          <p:nvPr/>
        </p:nvSpPr>
        <p:spPr>
          <a:xfrm>
            <a:off x="10373360" y="6256021"/>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2098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2F5FCB"/>
                </a:solidFill>
                <a:latin typeface="JetBrains Mono" pitchFamily="49" charset="0"/>
                <a:ea typeface="JetBrains Mono" pitchFamily="49" charset="-122"/>
                <a:cs typeface="JetBrains Mono" pitchFamily="49" charset="-120"/>
              </a:rPr>
              <a:t>FINDINGS AT A GLANCE</a:t>
            </a:r>
            <a:endParaRPr lang="en-US" sz="1100" dirty="0"/>
          </a:p>
        </p:txBody>
      </p:sp>
      <p:sp>
        <p:nvSpPr>
          <p:cNvPr id="3" name="Text 1"/>
          <p:cNvSpPr/>
          <p:nvPr>
            <p:ph type="title"/>
          </p:nvPr>
        </p:nvSpPr>
        <p:spPr>
          <a:xfrm>
            <a:off x="812800" y="1109982"/>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3"/>
                </a:solidFill>
                <a:latin typeface="IBM Plex Sans" pitchFamily="34" charset="0"/>
                <a:ea typeface="IBM Plex Sans" pitchFamily="34" charset="-122"/>
                <a:cs typeface="IBM Plex Sans" pitchFamily="34" charset="-120"/>
              </a:rPr>
              <a:t>10 tests, 2 High-severity confirmed</a:t>
            </a:r>
            <a:endParaRPr lang="en-US" sz="3200" dirty="0"/>
          </a:p>
        </p:txBody>
      </p:sp>
      <p:sp>
        <p:nvSpPr>
          <p:cNvPr id="4" name="Shape 2"/>
          <p:cNvSpPr/>
          <p:nvPr/>
        </p:nvSpPr>
        <p:spPr>
          <a:xfrm>
            <a:off x="812800" y="1831339"/>
            <a:ext cx="2011680" cy="1137920"/>
          </a:xfrm>
          <a:prstGeom prst="roundRect">
            <a:avLst>
              <a:gd name="adj" fmla="val 8929"/>
            </a:avLst>
          </a:prstGeom>
          <a:solidFill>
            <a:srgbClr val="FFFFFF"/>
          </a:solidFill>
          <a:ln/>
        </p:spPr>
      </p:sp>
      <p:sp>
        <p:nvSpPr>
          <p:cNvPr id="5" name="Shape 3"/>
          <p:cNvSpPr/>
          <p:nvPr/>
        </p:nvSpPr>
        <p:spPr>
          <a:xfrm>
            <a:off x="812800" y="1831339"/>
            <a:ext cx="2011680" cy="1137920"/>
          </a:xfrm>
          <a:custGeom>
            <a:avLst/>
            <a:gdLst/>
            <a:ahLst/>
            <a:cxnLst/>
            <a:rect l="l" t="t" r="r" b="b"/>
            <a:pathLst>
              <a:path w="2011680" h="1137920">
                <a:moveTo>
                  <a:pt x="0" y="101600"/>
                </a:moveTo>
                <a:lnTo>
                  <a:pt x="0" y="101600"/>
                </a:lnTo>
                <a:arcTo hR="101600" wR="101600" stAng="10800000" swAng="5400000"/>
                <a:lnTo>
                  <a:pt x="1910080" y="0"/>
                </a:lnTo>
                <a:arcTo hR="101600" wR="101600" stAng="16200000" swAng="5400000"/>
                <a:lnTo>
                  <a:pt x="2011680" y="101600"/>
                </a:lnTo>
                <a:arcTo hR="50800" wR="101600" stAng="0" swAng="-5400000"/>
                <a:lnTo>
                  <a:pt x="101600" y="50800"/>
                </a:lnTo>
                <a:arcTo hR="50800" wR="101600" stAng="16200000" swAng="-5400000"/>
                <a:close/>
              </a:path>
            </a:pathLst>
          </a:custGeom>
          <a:solidFill>
            <a:srgbClr val="B2311C"/>
          </a:solidFill>
          <a:ln/>
        </p:spPr>
      </p:sp>
      <p:sp>
        <p:nvSpPr>
          <p:cNvPr id="6" name="Text 4"/>
          <p:cNvSpPr/>
          <p:nvPr/>
        </p:nvSpPr>
        <p:spPr>
          <a:xfrm>
            <a:off x="990600" y="2059939"/>
            <a:ext cx="170688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2311C"/>
                </a:solidFill>
                <a:latin typeface="JetBrains Mono" pitchFamily="49" charset="0"/>
                <a:ea typeface="JetBrains Mono" pitchFamily="49" charset="-122"/>
                <a:cs typeface="JetBrains Mono" pitchFamily="49" charset="-120"/>
              </a:rPr>
              <a:t>2</a:t>
            </a:r>
            <a:endParaRPr lang="en-US" sz="2800" dirty="0"/>
          </a:p>
        </p:txBody>
      </p:sp>
      <p:sp>
        <p:nvSpPr>
          <p:cNvPr id="7" name="Text 5"/>
          <p:cNvSpPr/>
          <p:nvPr/>
        </p:nvSpPr>
        <p:spPr>
          <a:xfrm>
            <a:off x="990600" y="2595882"/>
            <a:ext cx="170688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1607A"/>
                </a:solidFill>
                <a:latin typeface="IBM Plex Sans" pitchFamily="34" charset="0"/>
                <a:ea typeface="IBM Plex Sans" pitchFamily="34" charset="-122"/>
                <a:cs typeface="IBM Plex Sans" pitchFamily="34" charset="-120"/>
              </a:rPr>
              <a:t>High</a:t>
            </a:r>
            <a:endParaRPr lang="en-US" sz="1100" dirty="0"/>
          </a:p>
        </p:txBody>
      </p:sp>
      <p:sp>
        <p:nvSpPr>
          <p:cNvPr id="8" name="Shape 6"/>
          <p:cNvSpPr/>
          <p:nvPr/>
        </p:nvSpPr>
        <p:spPr>
          <a:xfrm>
            <a:off x="2951480" y="1831339"/>
            <a:ext cx="2011680" cy="1137920"/>
          </a:xfrm>
          <a:prstGeom prst="roundRect">
            <a:avLst>
              <a:gd name="adj" fmla="val 8929"/>
            </a:avLst>
          </a:prstGeom>
          <a:solidFill>
            <a:srgbClr val="FFFFFF"/>
          </a:solidFill>
          <a:ln/>
        </p:spPr>
      </p:sp>
      <p:sp>
        <p:nvSpPr>
          <p:cNvPr id="9" name="Shape 7"/>
          <p:cNvSpPr/>
          <p:nvPr/>
        </p:nvSpPr>
        <p:spPr>
          <a:xfrm>
            <a:off x="2951480" y="1831339"/>
            <a:ext cx="2011680" cy="1137920"/>
          </a:xfrm>
          <a:custGeom>
            <a:avLst/>
            <a:gdLst/>
            <a:ahLst/>
            <a:cxnLst/>
            <a:rect l="l" t="t" r="r" b="b"/>
            <a:pathLst>
              <a:path w="2011680" h="1137920">
                <a:moveTo>
                  <a:pt x="0" y="101600"/>
                </a:moveTo>
                <a:lnTo>
                  <a:pt x="0" y="101600"/>
                </a:lnTo>
                <a:arcTo hR="101600" wR="101600" stAng="10800000" swAng="5400000"/>
                <a:lnTo>
                  <a:pt x="1910080" y="0"/>
                </a:lnTo>
                <a:arcTo hR="101600" wR="101600" stAng="16200000" swAng="5400000"/>
                <a:lnTo>
                  <a:pt x="2011680" y="101600"/>
                </a:lnTo>
                <a:arcTo hR="50800" wR="101600" stAng="0" swAng="-5400000"/>
                <a:lnTo>
                  <a:pt x="101600" y="50800"/>
                </a:lnTo>
                <a:arcTo hR="50800" wR="101600" stAng="16200000" swAng="-5400000"/>
                <a:close/>
              </a:path>
            </a:pathLst>
          </a:custGeom>
          <a:solidFill>
            <a:srgbClr val="C98A1B"/>
          </a:solidFill>
          <a:ln/>
        </p:spPr>
      </p:sp>
      <p:sp>
        <p:nvSpPr>
          <p:cNvPr id="10" name="Text 8"/>
          <p:cNvSpPr/>
          <p:nvPr/>
        </p:nvSpPr>
        <p:spPr>
          <a:xfrm>
            <a:off x="3129280" y="2059939"/>
            <a:ext cx="170688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98A1B"/>
                </a:solidFill>
                <a:latin typeface="JetBrains Mono" pitchFamily="49" charset="0"/>
                <a:ea typeface="JetBrains Mono" pitchFamily="49" charset="-122"/>
                <a:cs typeface="JetBrains Mono" pitchFamily="49" charset="-120"/>
              </a:rPr>
              <a:t>3</a:t>
            </a:r>
            <a:endParaRPr lang="en-US" sz="2800" dirty="0"/>
          </a:p>
        </p:txBody>
      </p:sp>
      <p:sp>
        <p:nvSpPr>
          <p:cNvPr id="11" name="Text 9"/>
          <p:cNvSpPr/>
          <p:nvPr/>
        </p:nvSpPr>
        <p:spPr>
          <a:xfrm>
            <a:off x="3129280" y="2595882"/>
            <a:ext cx="170688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1607A"/>
                </a:solidFill>
                <a:latin typeface="IBM Plex Sans" pitchFamily="34" charset="0"/>
                <a:ea typeface="IBM Plex Sans" pitchFamily="34" charset="-122"/>
                <a:cs typeface="IBM Plex Sans" pitchFamily="34" charset="-120"/>
              </a:rPr>
              <a:t>Medium</a:t>
            </a:r>
            <a:endParaRPr lang="en-US" sz="1100" dirty="0"/>
          </a:p>
        </p:txBody>
      </p:sp>
      <p:sp>
        <p:nvSpPr>
          <p:cNvPr id="12" name="Shape 10"/>
          <p:cNvSpPr/>
          <p:nvPr/>
        </p:nvSpPr>
        <p:spPr>
          <a:xfrm>
            <a:off x="5090160" y="1831339"/>
            <a:ext cx="2011680" cy="1137920"/>
          </a:xfrm>
          <a:prstGeom prst="roundRect">
            <a:avLst>
              <a:gd name="adj" fmla="val 8929"/>
            </a:avLst>
          </a:prstGeom>
          <a:solidFill>
            <a:srgbClr val="FFFFFF"/>
          </a:solidFill>
          <a:ln/>
        </p:spPr>
      </p:sp>
      <p:sp>
        <p:nvSpPr>
          <p:cNvPr id="13" name="Shape 11"/>
          <p:cNvSpPr/>
          <p:nvPr/>
        </p:nvSpPr>
        <p:spPr>
          <a:xfrm>
            <a:off x="5090160" y="1831339"/>
            <a:ext cx="2011680" cy="1137920"/>
          </a:xfrm>
          <a:custGeom>
            <a:avLst/>
            <a:gdLst/>
            <a:ahLst/>
            <a:cxnLst/>
            <a:rect l="l" t="t" r="r" b="b"/>
            <a:pathLst>
              <a:path w="2011680" h="1137920">
                <a:moveTo>
                  <a:pt x="0" y="101600"/>
                </a:moveTo>
                <a:lnTo>
                  <a:pt x="0" y="101600"/>
                </a:lnTo>
                <a:arcTo hR="101600" wR="101600" stAng="10800000" swAng="5400000"/>
                <a:lnTo>
                  <a:pt x="1910080" y="0"/>
                </a:lnTo>
                <a:arcTo hR="101600" wR="101600" stAng="16200000" swAng="5400000"/>
                <a:lnTo>
                  <a:pt x="2011680" y="101600"/>
                </a:lnTo>
                <a:arcTo hR="50800" wR="101600" stAng="0" swAng="-5400000"/>
                <a:lnTo>
                  <a:pt x="101600" y="50800"/>
                </a:lnTo>
                <a:arcTo hR="50800" wR="101600" stAng="16200000" swAng="-5400000"/>
                <a:close/>
              </a:path>
            </a:pathLst>
          </a:custGeom>
          <a:solidFill>
            <a:srgbClr val="4C7A3A"/>
          </a:solidFill>
          <a:ln/>
        </p:spPr>
      </p:sp>
      <p:sp>
        <p:nvSpPr>
          <p:cNvPr id="14" name="Text 12"/>
          <p:cNvSpPr/>
          <p:nvPr/>
        </p:nvSpPr>
        <p:spPr>
          <a:xfrm>
            <a:off x="5267960" y="2059939"/>
            <a:ext cx="170688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4C7A3A"/>
                </a:solidFill>
                <a:latin typeface="JetBrains Mono" pitchFamily="49" charset="0"/>
                <a:ea typeface="JetBrains Mono" pitchFamily="49" charset="-122"/>
                <a:cs typeface="JetBrains Mono" pitchFamily="49" charset="-120"/>
              </a:rPr>
              <a:t>1</a:t>
            </a:r>
            <a:endParaRPr lang="en-US" sz="2800" dirty="0"/>
          </a:p>
        </p:txBody>
      </p:sp>
      <p:sp>
        <p:nvSpPr>
          <p:cNvPr id="15" name="Text 13"/>
          <p:cNvSpPr/>
          <p:nvPr/>
        </p:nvSpPr>
        <p:spPr>
          <a:xfrm>
            <a:off x="5267960" y="2595882"/>
            <a:ext cx="170688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1607A"/>
                </a:solidFill>
                <a:latin typeface="IBM Plex Sans" pitchFamily="34" charset="0"/>
                <a:ea typeface="IBM Plex Sans" pitchFamily="34" charset="-122"/>
                <a:cs typeface="IBM Plex Sans" pitchFamily="34" charset="-120"/>
              </a:rPr>
              <a:t>Low</a:t>
            </a:r>
            <a:endParaRPr lang="en-US" sz="1100" dirty="0"/>
          </a:p>
        </p:txBody>
      </p:sp>
      <p:sp>
        <p:nvSpPr>
          <p:cNvPr id="16" name="Shape 14"/>
          <p:cNvSpPr/>
          <p:nvPr/>
        </p:nvSpPr>
        <p:spPr>
          <a:xfrm>
            <a:off x="7228840" y="1831339"/>
            <a:ext cx="2011680" cy="1137920"/>
          </a:xfrm>
          <a:prstGeom prst="roundRect">
            <a:avLst>
              <a:gd name="adj" fmla="val 8929"/>
            </a:avLst>
          </a:prstGeom>
          <a:solidFill>
            <a:srgbClr val="FFFFFF"/>
          </a:solidFill>
          <a:ln/>
        </p:spPr>
      </p:sp>
      <p:sp>
        <p:nvSpPr>
          <p:cNvPr id="17" name="Shape 15"/>
          <p:cNvSpPr/>
          <p:nvPr/>
        </p:nvSpPr>
        <p:spPr>
          <a:xfrm>
            <a:off x="7228840" y="1831339"/>
            <a:ext cx="2011680" cy="1137920"/>
          </a:xfrm>
          <a:custGeom>
            <a:avLst/>
            <a:gdLst/>
            <a:ahLst/>
            <a:cxnLst/>
            <a:rect l="l" t="t" r="r" b="b"/>
            <a:pathLst>
              <a:path w="2011680" h="1137920">
                <a:moveTo>
                  <a:pt x="0" y="101600"/>
                </a:moveTo>
                <a:lnTo>
                  <a:pt x="0" y="101600"/>
                </a:lnTo>
                <a:arcTo hR="101600" wR="101600" stAng="10800000" swAng="5400000"/>
                <a:lnTo>
                  <a:pt x="1910080" y="0"/>
                </a:lnTo>
                <a:arcTo hR="101600" wR="101600" stAng="16200000" swAng="5400000"/>
                <a:lnTo>
                  <a:pt x="2011680" y="101600"/>
                </a:lnTo>
                <a:arcTo hR="50800" wR="101600" stAng="0" swAng="-5400000"/>
                <a:lnTo>
                  <a:pt x="101600" y="50800"/>
                </a:lnTo>
                <a:arcTo hR="50800" wR="101600" stAng="16200000" swAng="-5400000"/>
                <a:close/>
              </a:path>
            </a:pathLst>
          </a:custGeom>
          <a:solidFill>
            <a:srgbClr val="5B6B7C"/>
          </a:solidFill>
          <a:ln/>
        </p:spPr>
      </p:sp>
      <p:sp>
        <p:nvSpPr>
          <p:cNvPr id="18" name="Text 16"/>
          <p:cNvSpPr/>
          <p:nvPr/>
        </p:nvSpPr>
        <p:spPr>
          <a:xfrm>
            <a:off x="7406640" y="2059939"/>
            <a:ext cx="170688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5B6B7C"/>
                </a:solidFill>
                <a:latin typeface="JetBrains Mono" pitchFamily="49" charset="0"/>
                <a:ea typeface="JetBrains Mono" pitchFamily="49" charset="-122"/>
                <a:cs typeface="JetBrains Mono" pitchFamily="49" charset="-120"/>
              </a:rPr>
              <a:t>3</a:t>
            </a:r>
            <a:endParaRPr lang="en-US" sz="2800" dirty="0"/>
          </a:p>
        </p:txBody>
      </p:sp>
      <p:sp>
        <p:nvSpPr>
          <p:cNvPr id="19" name="Text 17"/>
          <p:cNvSpPr/>
          <p:nvPr/>
        </p:nvSpPr>
        <p:spPr>
          <a:xfrm>
            <a:off x="7406640" y="2595882"/>
            <a:ext cx="170688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1607A"/>
                </a:solidFill>
                <a:latin typeface="IBM Plex Sans" pitchFamily="34" charset="0"/>
                <a:ea typeface="IBM Plex Sans" pitchFamily="34" charset="-122"/>
                <a:cs typeface="IBM Plex Sans" pitchFamily="34" charset="-120"/>
              </a:rPr>
              <a:t>Informational</a:t>
            </a:r>
            <a:endParaRPr lang="en-US" sz="1100" dirty="0"/>
          </a:p>
        </p:txBody>
      </p:sp>
      <p:sp>
        <p:nvSpPr>
          <p:cNvPr id="20" name="Shape 18"/>
          <p:cNvSpPr/>
          <p:nvPr/>
        </p:nvSpPr>
        <p:spPr>
          <a:xfrm>
            <a:off x="9367520" y="1831339"/>
            <a:ext cx="2011680" cy="1137920"/>
          </a:xfrm>
          <a:prstGeom prst="roundRect">
            <a:avLst>
              <a:gd name="adj" fmla="val 8929"/>
            </a:avLst>
          </a:prstGeom>
          <a:solidFill>
            <a:srgbClr val="FFFFFF"/>
          </a:solidFill>
          <a:ln/>
        </p:spPr>
      </p:sp>
      <p:sp>
        <p:nvSpPr>
          <p:cNvPr id="21" name="Shape 19"/>
          <p:cNvSpPr/>
          <p:nvPr/>
        </p:nvSpPr>
        <p:spPr>
          <a:xfrm>
            <a:off x="9367520" y="1831339"/>
            <a:ext cx="2011680" cy="1137920"/>
          </a:xfrm>
          <a:custGeom>
            <a:avLst/>
            <a:gdLst/>
            <a:ahLst/>
            <a:cxnLst/>
            <a:rect l="l" t="t" r="r" b="b"/>
            <a:pathLst>
              <a:path w="2011680" h="1137920">
                <a:moveTo>
                  <a:pt x="0" y="101600"/>
                </a:moveTo>
                <a:lnTo>
                  <a:pt x="0" y="101600"/>
                </a:lnTo>
                <a:arcTo hR="101600" wR="101600" stAng="10800000" swAng="5400000"/>
                <a:lnTo>
                  <a:pt x="1910080" y="0"/>
                </a:lnTo>
                <a:arcTo hR="101600" wR="101600" stAng="16200000" swAng="5400000"/>
                <a:lnTo>
                  <a:pt x="2011680" y="101600"/>
                </a:lnTo>
                <a:arcTo hR="50800" wR="101600" stAng="0" swAng="-5400000"/>
                <a:lnTo>
                  <a:pt x="101600" y="50800"/>
                </a:lnTo>
                <a:arcTo hR="50800" wR="101600" stAng="16200000" swAng="-5400000"/>
                <a:close/>
              </a:path>
            </a:pathLst>
          </a:custGeom>
          <a:solidFill>
            <a:srgbClr val="6E4A9E"/>
          </a:solidFill>
          <a:ln/>
        </p:spPr>
      </p:sp>
      <p:sp>
        <p:nvSpPr>
          <p:cNvPr id="22" name="Text 20"/>
          <p:cNvSpPr/>
          <p:nvPr/>
        </p:nvSpPr>
        <p:spPr>
          <a:xfrm>
            <a:off x="9545320" y="2059939"/>
            <a:ext cx="170688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6E4A9E"/>
                </a:solidFill>
                <a:latin typeface="JetBrains Mono" pitchFamily="49" charset="0"/>
                <a:ea typeface="JetBrains Mono" pitchFamily="49" charset="-122"/>
                <a:cs typeface="JetBrains Mono" pitchFamily="49" charset="-120"/>
              </a:rPr>
              <a:t>1</a:t>
            </a:r>
            <a:endParaRPr lang="en-US" sz="2800" dirty="0"/>
          </a:p>
        </p:txBody>
      </p:sp>
      <p:sp>
        <p:nvSpPr>
          <p:cNvPr id="23" name="Text 21"/>
          <p:cNvSpPr/>
          <p:nvPr/>
        </p:nvSpPr>
        <p:spPr>
          <a:xfrm>
            <a:off x="9545320" y="2595882"/>
            <a:ext cx="170688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1607A"/>
                </a:solidFill>
                <a:latin typeface="IBM Plex Sans" pitchFamily="34" charset="0"/>
                <a:ea typeface="IBM Plex Sans" pitchFamily="34" charset="-122"/>
                <a:cs typeface="IBM Plex Sans" pitchFamily="34" charset="-120"/>
              </a:rPr>
              <a:t>Inconclusive</a:t>
            </a:r>
            <a:endParaRPr lang="en-US" sz="1100" dirty="0"/>
          </a:p>
        </p:txBody>
      </p:sp>
      <p:sp>
        <p:nvSpPr>
          <p:cNvPr id="24" name="Shape 22"/>
          <p:cNvSpPr/>
          <p:nvPr/>
        </p:nvSpPr>
        <p:spPr>
          <a:xfrm>
            <a:off x="815975" y="3226436"/>
            <a:ext cx="10560050" cy="477520"/>
          </a:xfrm>
          <a:prstGeom prst="roundRect">
            <a:avLst>
              <a:gd name="adj" fmla="val 17952"/>
            </a:avLst>
          </a:prstGeom>
          <a:solidFill>
            <a:srgbClr val="FFFFFF"/>
          </a:solidFill>
          <a:ln w="6350">
            <a:solidFill>
              <a:srgbClr val="E1E5EA"/>
            </a:solidFill>
            <a:prstDash val="solid"/>
          </a:ln>
        </p:spPr>
      </p:sp>
      <p:sp>
        <p:nvSpPr>
          <p:cNvPr id="25" name="Text 23"/>
          <p:cNvSpPr/>
          <p:nvPr/>
        </p:nvSpPr>
        <p:spPr>
          <a:xfrm>
            <a:off x="995680" y="3367407"/>
            <a:ext cx="55880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142133"/>
                </a:solidFill>
                <a:latin typeface="JetBrains Mono" pitchFamily="49" charset="0"/>
                <a:ea typeface="JetBrains Mono" pitchFamily="49" charset="-122"/>
                <a:cs typeface="JetBrains Mono" pitchFamily="49" charset="-120"/>
              </a:rPr>
              <a:t>F-1</a:t>
            </a:r>
            <a:endParaRPr lang="en-US" sz="1100" dirty="0"/>
          </a:p>
        </p:txBody>
      </p:sp>
      <p:sp>
        <p:nvSpPr>
          <p:cNvPr id="26" name="Text 24"/>
          <p:cNvSpPr/>
          <p:nvPr/>
        </p:nvSpPr>
        <p:spPr>
          <a:xfrm>
            <a:off x="1630680" y="3362961"/>
            <a:ext cx="9221941"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142133"/>
                </a:solidFill>
                <a:latin typeface="IBM Plex Sans" pitchFamily="34" charset="0"/>
                <a:ea typeface="IBM Plex Sans" pitchFamily="34" charset="-122"/>
                <a:cs typeface="IBM Plex Sans" pitchFamily="34" charset="-120"/>
              </a:rPr>
              <a:t>Admin configuration exposed to a standard user token</a:t>
            </a:r>
            <a:endParaRPr lang="en-US" sz="1150" dirty="0"/>
          </a:p>
        </p:txBody>
      </p:sp>
      <p:sp>
        <p:nvSpPr>
          <p:cNvPr id="27" name="Text 25"/>
          <p:cNvSpPr/>
          <p:nvPr/>
        </p:nvSpPr>
        <p:spPr>
          <a:xfrm>
            <a:off x="10711021" y="3342639"/>
            <a:ext cx="485299" cy="245110"/>
          </a:xfrm>
          <a:prstGeom prst="roundRect">
            <a:avLst>
              <a:gd name="adj" fmla="val 50000"/>
            </a:avLst>
          </a:prstGeom>
          <a:solidFill>
            <a:srgbClr val="B2311C"/>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IBM Plex Sans" pitchFamily="34" charset="0"/>
                <a:ea typeface="IBM Plex Sans" pitchFamily="34" charset="-122"/>
                <a:cs typeface="IBM Plex Sans" pitchFamily="34" charset="-120"/>
              </a:rPr>
              <a:t>High</a:t>
            </a:r>
            <a:endParaRPr lang="en-US" sz="950" dirty="0"/>
          </a:p>
        </p:txBody>
      </p:sp>
      <p:sp>
        <p:nvSpPr>
          <p:cNvPr id="28" name="Shape 26"/>
          <p:cNvSpPr/>
          <p:nvPr/>
        </p:nvSpPr>
        <p:spPr>
          <a:xfrm>
            <a:off x="815975" y="3786507"/>
            <a:ext cx="10560050" cy="477520"/>
          </a:xfrm>
          <a:prstGeom prst="roundRect">
            <a:avLst>
              <a:gd name="adj" fmla="val 17952"/>
            </a:avLst>
          </a:prstGeom>
          <a:solidFill>
            <a:srgbClr val="FFFFFF"/>
          </a:solidFill>
          <a:ln w="6350">
            <a:solidFill>
              <a:srgbClr val="E1E5EA"/>
            </a:solidFill>
            <a:prstDash val="solid"/>
          </a:ln>
        </p:spPr>
      </p:sp>
      <p:sp>
        <p:nvSpPr>
          <p:cNvPr id="29" name="Text 27"/>
          <p:cNvSpPr/>
          <p:nvPr/>
        </p:nvSpPr>
        <p:spPr>
          <a:xfrm>
            <a:off x="995680" y="3927475"/>
            <a:ext cx="55880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142133"/>
                </a:solidFill>
                <a:latin typeface="JetBrains Mono" pitchFamily="49" charset="0"/>
                <a:ea typeface="JetBrains Mono" pitchFamily="49" charset="-122"/>
                <a:cs typeface="JetBrains Mono" pitchFamily="49" charset="-120"/>
              </a:rPr>
              <a:t>F-8</a:t>
            </a:r>
            <a:endParaRPr lang="en-US" sz="1100" dirty="0"/>
          </a:p>
        </p:txBody>
      </p:sp>
      <p:sp>
        <p:nvSpPr>
          <p:cNvPr id="30" name="Text 28"/>
          <p:cNvSpPr/>
          <p:nvPr/>
        </p:nvSpPr>
        <p:spPr>
          <a:xfrm>
            <a:off x="1630680" y="3923032"/>
            <a:ext cx="9221941"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142133"/>
                </a:solidFill>
                <a:latin typeface="IBM Plex Sans" pitchFamily="34" charset="0"/>
                <a:ea typeface="IBM Plex Sans" pitchFamily="34" charset="-122"/>
                <a:cs typeface="IBM Plex Sans" pitchFamily="34" charset="-120"/>
              </a:rPr>
              <a:t>Confirmed IDOR — cross-account PII disclosure on address endpoint</a:t>
            </a:r>
            <a:endParaRPr lang="en-US" sz="1150" dirty="0"/>
          </a:p>
        </p:txBody>
      </p:sp>
      <p:sp>
        <p:nvSpPr>
          <p:cNvPr id="31" name="Text 29"/>
          <p:cNvSpPr/>
          <p:nvPr/>
        </p:nvSpPr>
        <p:spPr>
          <a:xfrm>
            <a:off x="10711021" y="3902711"/>
            <a:ext cx="485299" cy="245110"/>
          </a:xfrm>
          <a:prstGeom prst="roundRect">
            <a:avLst>
              <a:gd name="adj" fmla="val 50000"/>
            </a:avLst>
          </a:prstGeom>
          <a:solidFill>
            <a:srgbClr val="B2311C"/>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IBM Plex Sans" pitchFamily="34" charset="0"/>
                <a:ea typeface="IBM Plex Sans" pitchFamily="34" charset="-122"/>
                <a:cs typeface="IBM Plex Sans" pitchFamily="34" charset="-120"/>
              </a:rPr>
              <a:t>High</a:t>
            </a:r>
            <a:endParaRPr lang="en-US" sz="950" dirty="0"/>
          </a:p>
        </p:txBody>
      </p:sp>
      <p:sp>
        <p:nvSpPr>
          <p:cNvPr id="32" name="Shape 30"/>
          <p:cNvSpPr/>
          <p:nvPr/>
        </p:nvSpPr>
        <p:spPr>
          <a:xfrm>
            <a:off x="815975" y="4346575"/>
            <a:ext cx="10560050" cy="477520"/>
          </a:xfrm>
          <a:prstGeom prst="roundRect">
            <a:avLst>
              <a:gd name="adj" fmla="val 17952"/>
            </a:avLst>
          </a:prstGeom>
          <a:solidFill>
            <a:srgbClr val="FFFFFF"/>
          </a:solidFill>
          <a:ln w="6350">
            <a:solidFill>
              <a:srgbClr val="E1E5EA"/>
            </a:solidFill>
            <a:prstDash val="solid"/>
          </a:ln>
        </p:spPr>
      </p:sp>
      <p:sp>
        <p:nvSpPr>
          <p:cNvPr id="33" name="Text 31"/>
          <p:cNvSpPr/>
          <p:nvPr/>
        </p:nvSpPr>
        <p:spPr>
          <a:xfrm>
            <a:off x="995680" y="4487546"/>
            <a:ext cx="60960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142133"/>
                </a:solidFill>
                <a:latin typeface="JetBrains Mono" pitchFamily="49" charset="0"/>
                <a:ea typeface="JetBrains Mono" pitchFamily="49" charset="-122"/>
                <a:cs typeface="JetBrains Mono" pitchFamily="49" charset="-120"/>
              </a:rPr>
              <a:t>F-2/10</a:t>
            </a:r>
            <a:endParaRPr lang="en-US" sz="1100" dirty="0"/>
          </a:p>
        </p:txBody>
      </p:sp>
      <p:sp>
        <p:nvSpPr>
          <p:cNvPr id="34" name="Text 32"/>
          <p:cNvSpPr/>
          <p:nvPr/>
        </p:nvSpPr>
        <p:spPr>
          <a:xfrm>
            <a:off x="1630680" y="4483100"/>
            <a:ext cx="9023274"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142133"/>
                </a:solidFill>
                <a:latin typeface="IBM Plex Sans" pitchFamily="34" charset="0"/>
                <a:ea typeface="IBM Plex Sans" pitchFamily="34" charset="-122"/>
                <a:cs typeface="IBM Plex Sans" pitchFamily="34" charset="-120"/>
              </a:rPr>
              <a:t>Verbose server errors leak full Node.js/Sequelize stack traces</a:t>
            </a:r>
            <a:endParaRPr lang="en-US" sz="1150" dirty="0"/>
          </a:p>
        </p:txBody>
      </p:sp>
      <p:sp>
        <p:nvSpPr>
          <p:cNvPr id="35" name="Text 33"/>
          <p:cNvSpPr/>
          <p:nvPr/>
        </p:nvSpPr>
        <p:spPr>
          <a:xfrm>
            <a:off x="10518140" y="4462782"/>
            <a:ext cx="678180" cy="245110"/>
          </a:xfrm>
          <a:prstGeom prst="roundRect">
            <a:avLst>
              <a:gd name="adj" fmla="val 50000"/>
            </a:avLst>
          </a:prstGeom>
          <a:solidFill>
            <a:srgbClr val="C98A1B"/>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IBM Plex Sans" pitchFamily="34" charset="0"/>
                <a:ea typeface="IBM Plex Sans" pitchFamily="34" charset="-122"/>
                <a:cs typeface="IBM Plex Sans" pitchFamily="34" charset="-120"/>
              </a:rPr>
              <a:t>Medium</a:t>
            </a:r>
            <a:endParaRPr lang="en-US" sz="950" dirty="0"/>
          </a:p>
        </p:txBody>
      </p:sp>
      <p:sp>
        <p:nvSpPr>
          <p:cNvPr id="36" name="Shape 34"/>
          <p:cNvSpPr/>
          <p:nvPr/>
        </p:nvSpPr>
        <p:spPr>
          <a:xfrm>
            <a:off x="815975" y="4906646"/>
            <a:ext cx="10560050" cy="477520"/>
          </a:xfrm>
          <a:prstGeom prst="roundRect">
            <a:avLst>
              <a:gd name="adj" fmla="val 17952"/>
            </a:avLst>
          </a:prstGeom>
          <a:solidFill>
            <a:srgbClr val="FFFFFF"/>
          </a:solidFill>
          <a:ln w="6350">
            <a:solidFill>
              <a:srgbClr val="E1E5EA"/>
            </a:solidFill>
            <a:prstDash val="solid"/>
          </a:ln>
        </p:spPr>
      </p:sp>
      <p:sp>
        <p:nvSpPr>
          <p:cNvPr id="37" name="Text 35"/>
          <p:cNvSpPr/>
          <p:nvPr/>
        </p:nvSpPr>
        <p:spPr>
          <a:xfrm>
            <a:off x="995680" y="5047614"/>
            <a:ext cx="55880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142133"/>
                </a:solidFill>
                <a:latin typeface="JetBrains Mono" pitchFamily="49" charset="0"/>
                <a:ea typeface="JetBrains Mono" pitchFamily="49" charset="-122"/>
                <a:cs typeface="JetBrains Mono" pitchFamily="49" charset="-120"/>
              </a:rPr>
              <a:t>F-3</a:t>
            </a:r>
            <a:endParaRPr lang="en-US" sz="1100" dirty="0"/>
          </a:p>
        </p:txBody>
      </p:sp>
      <p:sp>
        <p:nvSpPr>
          <p:cNvPr id="38" name="Text 36"/>
          <p:cNvSpPr/>
          <p:nvPr/>
        </p:nvSpPr>
        <p:spPr>
          <a:xfrm>
            <a:off x="1630680" y="5043171"/>
            <a:ext cx="9023274"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142133"/>
                </a:solidFill>
                <a:latin typeface="IBM Plex Sans" pitchFamily="34" charset="0"/>
                <a:ea typeface="IBM Plex Sans" pitchFamily="34" charset="-122"/>
                <a:cs typeface="IBM Plex Sans" pitchFamily="34" charset="-120"/>
              </a:rPr>
              <a:t>Empty search returns full catalog; unescaped HTML (XSS lead)</a:t>
            </a:r>
            <a:endParaRPr lang="en-US" sz="1150" dirty="0"/>
          </a:p>
        </p:txBody>
      </p:sp>
      <p:sp>
        <p:nvSpPr>
          <p:cNvPr id="39" name="Text 37"/>
          <p:cNvSpPr/>
          <p:nvPr/>
        </p:nvSpPr>
        <p:spPr>
          <a:xfrm>
            <a:off x="10518140" y="5022850"/>
            <a:ext cx="678180" cy="245110"/>
          </a:xfrm>
          <a:prstGeom prst="roundRect">
            <a:avLst>
              <a:gd name="adj" fmla="val 50000"/>
            </a:avLst>
          </a:prstGeom>
          <a:solidFill>
            <a:srgbClr val="C98A1B"/>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IBM Plex Sans" pitchFamily="34" charset="0"/>
                <a:ea typeface="IBM Plex Sans" pitchFamily="34" charset="-122"/>
                <a:cs typeface="IBM Plex Sans" pitchFamily="34" charset="-120"/>
              </a:rPr>
              <a:t>Medium</a:t>
            </a:r>
            <a:endParaRPr lang="en-US" sz="950" dirty="0"/>
          </a:p>
        </p:txBody>
      </p:sp>
      <p:sp>
        <p:nvSpPr>
          <p:cNvPr id="40" name="Text 38"/>
          <p:cNvSpPr/>
          <p:nvPr/>
        </p:nvSpPr>
        <p:spPr>
          <a:xfrm>
            <a:off x="812800" y="6256021"/>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41" name="Text 39"/>
          <p:cNvSpPr/>
          <p:nvPr/>
        </p:nvSpPr>
        <p:spPr>
          <a:xfrm>
            <a:off x="10373360" y="6256021"/>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23277"/>
            <a:ext cx="1193800" cy="314960"/>
          </a:xfrm>
          <a:prstGeom prst="roundRect">
            <a:avLst>
              <a:gd name="adj" fmla="val 20161"/>
            </a:avLst>
          </a:prstGeom>
          <a:solidFill>
            <a:srgbClr val="B2311C"/>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JetBrains Mono" pitchFamily="49" charset="0"/>
                <a:ea typeface="JetBrains Mono" pitchFamily="49" charset="-122"/>
                <a:cs typeface="JetBrains Mono" pitchFamily="49" charset="-120"/>
              </a:rPr>
              <a:t>F-1 · HIGH</a:t>
            </a:r>
            <a:endParaRPr lang="en-US" sz="1200" dirty="0"/>
          </a:p>
        </p:txBody>
      </p:sp>
      <p:sp>
        <p:nvSpPr>
          <p:cNvPr id="3" name="Text 1"/>
          <p:cNvSpPr/>
          <p:nvPr>
            <p:ph type="title"/>
          </p:nvPr>
        </p:nvSpPr>
        <p:spPr>
          <a:xfrm>
            <a:off x="2133600" y="812800"/>
            <a:ext cx="9640062" cy="361315"/>
          </a:xfrm>
          <a:prstGeom prst="rect">
            <a:avLst/>
          </a:prstGeom>
          <a:noFill/>
          <a:ln/>
        </p:spPr>
        <p:txBody>
          <a:bodyPr wrap="square" lIns="0" tIns="0" rIns="0" bIns="0" rtlCol="0" anchor="t">
            <a:normAutofit/>
          </a:bodyPr>
          <a:lstStyle/>
          <a:p>
            <a:pPr algn="l" indent="0" marL="0">
              <a:lnSpc>
                <a:spcPts val="2645"/>
              </a:lnSpc>
              <a:buNone/>
            </a:pPr>
            <a:r>
              <a:rPr lang="en-US" sz="2300" b="1" i="0" dirty="0">
                <a:solidFill>
                  <a:srgbClr val="142133"/>
                </a:solidFill>
                <a:latin typeface="IBM Plex Sans" pitchFamily="34" charset="0"/>
                <a:ea typeface="IBM Plex Sans" pitchFamily="34" charset="-122"/>
                <a:cs typeface="IBM Plex Sans" pitchFamily="34" charset="-120"/>
              </a:rPr>
              <a:t>Admin configuration accessible with a standard user token</a:t>
            </a:r>
            <a:endParaRPr lang="en-US" sz="2300" dirty="0"/>
          </a:p>
        </p:txBody>
      </p:sp>
      <p:sp>
        <p:nvSpPr>
          <p:cNvPr id="4" name="Text 2"/>
          <p:cNvSpPr/>
          <p:nvPr/>
        </p:nvSpPr>
        <p:spPr>
          <a:xfrm>
            <a:off x="812800" y="1351914"/>
            <a:ext cx="5310886" cy="212090"/>
          </a:xfrm>
          <a:prstGeom prst="rect">
            <a:avLst/>
          </a:prstGeom>
          <a:noFill/>
          <a:ln/>
        </p:spPr>
        <p:txBody>
          <a:bodyPr wrap="square" lIns="0" tIns="0" rIns="0" bIns="0" rtlCol="0" anchor="t">
            <a:normAutofit/>
          </a:bodyPr>
          <a:lstStyle/>
          <a:p>
            <a:pPr algn="l" indent="0" marL="0">
              <a:lnSpc>
                <a:spcPts val="1470"/>
              </a:lnSpc>
              <a:buNone/>
            </a:pPr>
            <a:r>
              <a:rPr lang="en-US" sz="1050" b="1" spc="50" kern="0" dirty="0">
                <a:solidFill>
                  <a:srgbClr val="2F5FCB"/>
                </a:solidFill>
                <a:latin typeface="IBM Plex Sans" pitchFamily="34" charset="0"/>
                <a:ea typeface="IBM Plex Sans" pitchFamily="34" charset="-122"/>
                <a:cs typeface="IBM Plex Sans" pitchFamily="34" charset="-120"/>
              </a:rPr>
              <a:t>REQUEST</a:t>
            </a:r>
            <a:endParaRPr lang="en-US" sz="1050" dirty="0"/>
          </a:p>
        </p:txBody>
      </p:sp>
      <p:sp>
        <p:nvSpPr>
          <p:cNvPr id="5" name="Text 3"/>
          <p:cNvSpPr/>
          <p:nvPr/>
        </p:nvSpPr>
        <p:spPr>
          <a:xfrm>
            <a:off x="812800" y="1538607"/>
            <a:ext cx="5310886" cy="448945"/>
          </a:xfrm>
          <a:prstGeom prst="rect">
            <a:avLst/>
          </a:prstGeom>
          <a:noFill/>
          <a:ln/>
        </p:spPr>
        <p:txBody>
          <a:bodyPr wrap="square" lIns="0" tIns="0" rIns="0" bIns="0" rtlCol="0" anchor="t">
            <a:normAutofit/>
          </a:bodyPr>
          <a:lstStyle/>
          <a:p>
            <a:pPr algn="l" indent="0" marL="0">
              <a:lnSpc>
                <a:spcPts val="1668"/>
              </a:lnSpc>
              <a:buNone/>
            </a:pPr>
            <a:r>
              <a:rPr lang="en-US" sz="1150" dirty="0">
                <a:solidFill>
                  <a:srgbClr val="2B3647"/>
                </a:solidFill>
                <a:latin typeface="IBM Plex Sans" pitchFamily="34" charset="0"/>
                <a:ea typeface="IBM Plex Sans" pitchFamily="34" charset="-122"/>
                <a:cs typeface="IBM Plex Sans" pitchFamily="34" charset="-120"/>
              </a:rPr>
              <a:t>GET /rest/admin/application-configuration — sent with only a standard authenticated user token (no elevated role)</a:t>
            </a:r>
            <a:endParaRPr lang="en-US" sz="1150" dirty="0"/>
          </a:p>
        </p:txBody>
      </p:sp>
      <p:sp>
        <p:nvSpPr>
          <p:cNvPr id="6" name="Text 4"/>
          <p:cNvSpPr/>
          <p:nvPr/>
        </p:nvSpPr>
        <p:spPr>
          <a:xfrm>
            <a:off x="812800" y="2101850"/>
            <a:ext cx="5310886" cy="212090"/>
          </a:xfrm>
          <a:prstGeom prst="rect">
            <a:avLst/>
          </a:prstGeom>
          <a:noFill/>
          <a:ln/>
        </p:spPr>
        <p:txBody>
          <a:bodyPr wrap="square" lIns="0" tIns="0" rIns="0" bIns="0" rtlCol="0" anchor="t">
            <a:normAutofit/>
          </a:bodyPr>
          <a:lstStyle/>
          <a:p>
            <a:pPr algn="l" indent="0" marL="0">
              <a:lnSpc>
                <a:spcPts val="1470"/>
              </a:lnSpc>
              <a:buNone/>
            </a:pPr>
            <a:r>
              <a:rPr lang="en-US" sz="1050" b="1" spc="50" kern="0" dirty="0">
                <a:solidFill>
                  <a:srgbClr val="2F5FCB"/>
                </a:solidFill>
                <a:latin typeface="IBM Plex Sans" pitchFamily="34" charset="0"/>
                <a:ea typeface="IBM Plex Sans" pitchFamily="34" charset="-122"/>
                <a:cs typeface="IBM Plex Sans" pitchFamily="34" charset="-120"/>
              </a:rPr>
              <a:t>RESPONSE</a:t>
            </a:r>
            <a:endParaRPr lang="en-US" sz="1050" dirty="0"/>
          </a:p>
        </p:txBody>
      </p:sp>
      <p:sp>
        <p:nvSpPr>
          <p:cNvPr id="7" name="Text 5"/>
          <p:cNvSpPr/>
          <p:nvPr/>
        </p:nvSpPr>
        <p:spPr>
          <a:xfrm>
            <a:off x="812800" y="2288539"/>
            <a:ext cx="5310886" cy="448945"/>
          </a:xfrm>
          <a:prstGeom prst="rect">
            <a:avLst/>
          </a:prstGeom>
          <a:noFill/>
          <a:ln/>
        </p:spPr>
        <p:txBody>
          <a:bodyPr wrap="square" lIns="0" tIns="0" rIns="0" bIns="0" rtlCol="0" anchor="t">
            <a:normAutofit/>
          </a:bodyPr>
          <a:lstStyle/>
          <a:p>
            <a:pPr algn="l" indent="0" marL="0">
              <a:lnSpc>
                <a:spcPts val="1668"/>
              </a:lnSpc>
              <a:buNone/>
            </a:pPr>
            <a:r>
              <a:rPr lang="en-US" sz="1150" dirty="0">
                <a:solidFill>
                  <a:srgbClr val="2B3647"/>
                </a:solidFill>
                <a:latin typeface="IBM Plex Sans" pitchFamily="34" charset="0"/>
                <a:ea typeface="IBM Plex Sans" pitchFamily="34" charset="-122"/>
                <a:cs typeface="IBM Plex Sans" pitchFamily="34" charset="-120"/>
              </a:rPr>
              <a:t>200 OK, 23,577 bytes — full app config, feature flags, privacy contact email, chatbot config</a:t>
            </a:r>
            <a:endParaRPr lang="en-US" sz="1150" dirty="0"/>
          </a:p>
        </p:txBody>
      </p:sp>
      <p:sp>
        <p:nvSpPr>
          <p:cNvPr id="8" name="Text 6"/>
          <p:cNvSpPr/>
          <p:nvPr/>
        </p:nvSpPr>
        <p:spPr>
          <a:xfrm>
            <a:off x="812800" y="2851786"/>
            <a:ext cx="5156200" cy="684530"/>
          </a:xfrm>
          <a:prstGeom prst="roundRect">
            <a:avLst>
              <a:gd name="adj" fmla="val 11132"/>
            </a:avLst>
          </a:prstGeom>
          <a:solidFill>
            <a:srgbClr val="FBEAE8"/>
          </a:solidFill>
          <a:ln/>
        </p:spPr>
        <p:txBody>
          <a:bodyPr wrap="square" lIns="178342" tIns="117382" rIns="0" bIns="91982" rtlCol="0" anchor="t">
            <a:normAutofit/>
          </a:bodyPr>
          <a:lstStyle/>
          <a:p>
            <a:pPr algn="l" indent="0" marL="0">
              <a:lnSpc>
                <a:spcPts val="1595"/>
              </a:lnSpc>
              <a:buNone/>
            </a:pPr>
            <a:r>
              <a:rPr lang="en-US" sz="1100" b="1" dirty="0">
                <a:solidFill>
                  <a:srgbClr val="5C1A12"/>
                </a:solidFill>
                <a:latin typeface="IBM Plex Sans" pitchFamily="34" charset="0"/>
                <a:ea typeface="IBM Plex Sans" pitchFamily="34" charset="-122"/>
                <a:cs typeface="IBM Plex Sans" pitchFamily="34" charset="-120"/>
              </a:rPr>
              <a:t>Impact:</a:t>
            </a:r>
            <a:r>
              <a:rPr lang="en-US" sz="1100" dirty="0">
                <a:solidFill>
                  <a:srgbClr val="5C1A12"/>
                </a:solidFill>
                <a:latin typeface="IBM Plex Sans" pitchFamily="34" charset="0"/>
                <a:ea typeface="IBM Plex Sans" pitchFamily="34" charset="-122"/>
                <a:cs typeface="IBM Plex Sans" pitchFamily="34" charset="-120"/>
              </a:rPr>
              <a:t> the server trusts any valid token rather than checking the caller's privilege level for an admin-scoped resource.</a:t>
            </a:r>
            <a:endParaRPr lang="en-US" sz="1100" dirty="0"/>
          </a:p>
        </p:txBody>
      </p:sp>
      <p:sp>
        <p:nvSpPr>
          <p:cNvPr id="9" name="Shape 7"/>
          <p:cNvSpPr/>
          <p:nvPr/>
        </p:nvSpPr>
        <p:spPr>
          <a:xfrm>
            <a:off x="812800" y="2851786"/>
            <a:ext cx="5156200" cy="684530"/>
          </a:xfrm>
          <a:custGeom>
            <a:avLst/>
            <a:gdLst/>
            <a:ahLst/>
            <a:cxnLst/>
            <a:rect l="l" t="t" r="r" b="b"/>
            <a:pathLst>
              <a:path w="5156200" h="684530">
                <a:moveTo>
                  <a:pt x="76200" y="684530"/>
                </a:moveTo>
                <a:lnTo>
                  <a:pt x="76200" y="684530"/>
                </a:lnTo>
                <a:arcTo hR="76200" wR="76200" stAng="5400000" swAng="5400000"/>
                <a:lnTo>
                  <a:pt x="0" y="76200"/>
                </a:lnTo>
                <a:arcTo hR="76200" wR="76200" stAng="10800000" swAng="5400000"/>
                <a:lnTo>
                  <a:pt x="76200" y="0"/>
                </a:lnTo>
                <a:arcTo hR="76200" wR="38100" stAng="16200000" swAng="-5400000"/>
                <a:lnTo>
                  <a:pt x="38100" y="608330"/>
                </a:lnTo>
                <a:arcTo hR="76200" wR="38100" stAng="10800000" swAng="-5400000"/>
                <a:close/>
              </a:path>
            </a:pathLst>
          </a:custGeom>
          <a:solidFill>
            <a:srgbClr val="B2311C"/>
          </a:solidFill>
          <a:ln/>
        </p:spPr>
      </p:sp>
      <p:pic>
        <p:nvPicPr>
          <p:cNvPr id="10" name="Image 0" descr="Burp Repeater showing a 200 OK admin configuration response returned to a standard user token">    </p:cNvPr>
          <p:cNvPicPr>
            <a:picLocks noChangeAspect="1"/>
          </p:cNvPicPr>
          <p:nvPr/>
        </p:nvPicPr>
        <p:blipFill>
          <a:blip r:embed="rId1"/>
          <a:srcRect l="0" r="0" t="103" b="103"/>
          <a:stretch/>
        </p:blipFill>
        <p:spPr>
          <a:xfrm>
            <a:off x="6521450" y="1358264"/>
            <a:ext cx="4559300" cy="2082800"/>
          </a:xfrm>
          <a:prstGeom prst="roundRect">
            <a:avLst>
              <a:gd name="adj" fmla="val 4573"/>
            </a:avLst>
          </a:prstGeom>
          <a:effectLst>
            <a:outerShdw sx="100000" sy="100000" kx="0" ky="0" algn="bl" rotWithShape="0" blurRad="190500" dist="76200" dir="5400000">
              <a:srgbClr val="142133">
                <a:alpha val="18000"/>
              </a:srgbClr>
            </a:outerShdw>
          </a:effectLst>
        </p:spPr>
      </p:pic>
      <p:sp>
        <p:nvSpPr>
          <p:cNvPr id="11" name="Shape 8"/>
          <p:cNvSpPr/>
          <p:nvPr/>
        </p:nvSpPr>
        <p:spPr>
          <a:xfrm>
            <a:off x="6518275" y="1355089"/>
            <a:ext cx="4565650" cy="2089150"/>
          </a:xfrm>
          <a:prstGeom prst="roundRect">
            <a:avLst>
              <a:gd name="adj" fmla="val 4711"/>
            </a:avLst>
          </a:prstGeom>
          <a:noFill/>
          <a:ln w="6350">
            <a:solidFill>
              <a:srgbClr val="D7DCE2"/>
            </a:solidFill>
            <a:prstDash val="solid"/>
          </a:ln>
        </p:spPr>
      </p:sp>
      <p:sp>
        <p:nvSpPr>
          <p:cNvPr id="12" name="Text 9"/>
          <p:cNvSpPr/>
          <p:nvPr/>
        </p:nvSpPr>
        <p:spPr>
          <a:xfrm>
            <a:off x="6841617" y="3536314"/>
            <a:ext cx="3918966" cy="194310"/>
          </a:xfrm>
          <a:prstGeom prst="rect">
            <a:avLst/>
          </a:prstGeom>
          <a:noFill/>
          <a:ln/>
        </p:spPr>
        <p:txBody>
          <a:bodyPr wrap="square" lIns="0" tIns="0" rIns="0" bIns="0" rtlCol="0" anchor="t">
            <a:normAutofit/>
          </a:bodyPr>
          <a:lstStyle/>
          <a:p>
            <a:pPr algn="ctr" indent="0" marL="0">
              <a:lnSpc>
                <a:spcPts val="1330"/>
              </a:lnSpc>
              <a:buNone/>
            </a:pPr>
            <a:r>
              <a:rPr lang="en-US" sz="950" i="1" dirty="0">
                <a:solidFill>
                  <a:srgbClr val="9AA4B2"/>
                </a:solidFill>
                <a:latin typeface="IBM Plex Sans" pitchFamily="34" charset="0"/>
                <a:ea typeface="IBM Plex Sans" pitchFamily="34" charset="-122"/>
                <a:cs typeface="IBM Plex Sans" pitchFamily="34" charset="-120"/>
              </a:rPr>
              <a:t>Burp Repeater — admin config leaked to a non-admin session</a:t>
            </a:r>
            <a:endParaRPr lang="en-US" sz="950" dirty="0"/>
          </a:p>
        </p:txBody>
      </p:sp>
      <p:sp>
        <p:nvSpPr>
          <p:cNvPr id="13" name="Text 10"/>
          <p:cNvSpPr/>
          <p:nvPr/>
        </p:nvSpPr>
        <p:spPr>
          <a:xfrm>
            <a:off x="812800" y="6256021"/>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14" name="Text 11"/>
          <p:cNvSpPr/>
          <p:nvPr/>
        </p:nvSpPr>
        <p:spPr>
          <a:xfrm>
            <a:off x="10373360" y="6256021"/>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233A"/>
        </a:solidFill>
      </p:bgPr>
    </p:bg>
    <p:spTree>
      <p:nvGrpSpPr>
        <p:cNvPr id="1" name=""/>
        <p:cNvGrpSpPr/>
        <p:nvPr/>
      </p:nvGrpSpPr>
      <p:grpSpPr>
        <a:xfrm>
          <a:off x="0" y="0"/>
          <a:ext cx="0" cy="0"/>
          <a:chOff x="0" y="0"/>
          <a:chExt cx="0" cy="0"/>
        </a:xfrm>
      </p:grpSpPr>
      <p:sp>
        <p:nvSpPr>
          <p:cNvPr id="2" name="Text 0"/>
          <p:cNvSpPr/>
          <p:nvPr/>
        </p:nvSpPr>
        <p:spPr>
          <a:xfrm>
            <a:off x="812800" y="823277"/>
            <a:ext cx="2291080" cy="314960"/>
          </a:xfrm>
          <a:prstGeom prst="roundRect">
            <a:avLst>
              <a:gd name="adj" fmla="val 20161"/>
            </a:avLst>
          </a:prstGeom>
          <a:solidFill>
            <a:srgbClr val="D8432A"/>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JetBrains Mono" pitchFamily="49" charset="0"/>
                <a:ea typeface="JetBrains Mono" pitchFamily="49" charset="-122"/>
                <a:cs typeface="JetBrains Mono" pitchFamily="49" charset="-120"/>
              </a:rPr>
              <a:t>F-8 · HIGH · CONFIRMED</a:t>
            </a:r>
            <a:endParaRPr lang="en-US" sz="1200" dirty="0"/>
          </a:p>
        </p:txBody>
      </p:sp>
      <p:sp>
        <p:nvSpPr>
          <p:cNvPr id="3" name="Text 1"/>
          <p:cNvSpPr/>
          <p:nvPr>
            <p:ph type="title"/>
          </p:nvPr>
        </p:nvSpPr>
        <p:spPr>
          <a:xfrm>
            <a:off x="3230880" y="812800"/>
            <a:ext cx="8673274" cy="361315"/>
          </a:xfrm>
          <a:prstGeom prst="rect">
            <a:avLst/>
          </a:prstGeom>
          <a:noFill/>
          <a:ln/>
        </p:spPr>
        <p:txBody>
          <a:bodyPr wrap="square" lIns="0" tIns="0" rIns="0" bIns="0" rtlCol="0" anchor="t">
            <a:normAutofit/>
          </a:bodyPr>
          <a:lstStyle/>
          <a:p>
            <a:pPr algn="l" indent="0" marL="0">
              <a:lnSpc>
                <a:spcPts val="2645"/>
              </a:lnSpc>
              <a:buNone/>
            </a:pPr>
            <a:r>
              <a:rPr lang="en-US" sz="2300" b="1" i="0" dirty="0">
                <a:solidFill>
                  <a:srgbClr val="FFFFFF"/>
                </a:solidFill>
                <a:latin typeface="IBM Plex Sans" pitchFamily="34" charset="0"/>
                <a:ea typeface="IBM Plex Sans" pitchFamily="34" charset="-122"/>
                <a:cs typeface="IBM Plex Sans" pitchFamily="34" charset="-120"/>
              </a:rPr>
              <a:t>IDOR on the address endpoint — the headline finding</a:t>
            </a:r>
            <a:endParaRPr lang="en-US" sz="2300" dirty="0"/>
          </a:p>
        </p:txBody>
      </p:sp>
      <p:sp>
        <p:nvSpPr>
          <p:cNvPr id="4" name="Shape 2"/>
          <p:cNvSpPr/>
          <p:nvPr/>
        </p:nvSpPr>
        <p:spPr>
          <a:xfrm>
            <a:off x="812800" y="1339214"/>
            <a:ext cx="5156200" cy="942340"/>
          </a:xfrm>
          <a:prstGeom prst="roundRect">
            <a:avLst>
              <a:gd name="adj" fmla="val 9434"/>
            </a:avLst>
          </a:prstGeom>
          <a:solidFill>
            <a:srgbClr val="1F2E4A"/>
          </a:solidFill>
          <a:ln/>
        </p:spPr>
      </p:sp>
      <p:sp>
        <p:nvSpPr>
          <p:cNvPr id="5" name="Text 3"/>
          <p:cNvSpPr/>
          <p:nvPr/>
        </p:nvSpPr>
        <p:spPr>
          <a:xfrm>
            <a:off x="990600" y="1491614"/>
            <a:ext cx="4944618"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6FA0FF"/>
                </a:solidFill>
                <a:latin typeface="JetBrains Mono" pitchFamily="49" charset="0"/>
                <a:ea typeface="JetBrains Mono" pitchFamily="49" charset="-122"/>
                <a:cs typeface="JetBrains Mono" pitchFamily="49" charset="-120"/>
              </a:rPr>
              <a:t>Step 1</a:t>
            </a:r>
            <a:endParaRPr lang="en-US" sz="1000" dirty="0"/>
          </a:p>
        </p:txBody>
      </p:sp>
      <p:sp>
        <p:nvSpPr>
          <p:cNvPr id="6" name="Text 4"/>
          <p:cNvSpPr/>
          <p:nvPr/>
        </p:nvSpPr>
        <p:spPr>
          <a:xfrm>
            <a:off x="990600" y="1720214"/>
            <a:ext cx="4944618" cy="4343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E6EBF3"/>
                </a:solidFill>
                <a:latin typeface="IBM Plex Sans" pitchFamily="34" charset="0"/>
                <a:ea typeface="IBM Plex Sans" pitchFamily="34" charset="-122"/>
                <a:cs typeface="IBM Plex Sans" pitchFamily="34" charset="-120"/>
              </a:rPr>
              <a:t>GET /api/Addresss/8 with UserId 26's session → returns UserId 26's own record (expected)</a:t>
            </a:r>
            <a:endParaRPr lang="en-US" sz="1150" dirty="0"/>
          </a:p>
        </p:txBody>
      </p:sp>
      <p:sp>
        <p:nvSpPr>
          <p:cNvPr id="7" name="Shape 5"/>
          <p:cNvSpPr/>
          <p:nvPr/>
        </p:nvSpPr>
        <p:spPr>
          <a:xfrm>
            <a:off x="812800" y="2395857"/>
            <a:ext cx="5156200" cy="942340"/>
          </a:xfrm>
          <a:prstGeom prst="roundRect">
            <a:avLst>
              <a:gd name="adj" fmla="val 9434"/>
            </a:avLst>
          </a:prstGeom>
          <a:solidFill>
            <a:srgbClr val="1F2E4A"/>
          </a:solidFill>
          <a:ln/>
        </p:spPr>
      </p:sp>
      <p:sp>
        <p:nvSpPr>
          <p:cNvPr id="8" name="Text 6"/>
          <p:cNvSpPr/>
          <p:nvPr/>
        </p:nvSpPr>
        <p:spPr>
          <a:xfrm>
            <a:off x="990600" y="2548257"/>
            <a:ext cx="4944618"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F3A15B"/>
                </a:solidFill>
                <a:latin typeface="JetBrains Mono" pitchFamily="49" charset="0"/>
                <a:ea typeface="JetBrains Mono" pitchFamily="49" charset="-122"/>
                <a:cs typeface="JetBrains Mono" pitchFamily="49" charset="-120"/>
              </a:rPr>
              <a:t>Step 2 — same token, ID changed</a:t>
            </a:r>
            <a:endParaRPr lang="en-US" sz="1000" dirty="0"/>
          </a:p>
        </p:txBody>
      </p:sp>
      <p:sp>
        <p:nvSpPr>
          <p:cNvPr id="9" name="Text 7"/>
          <p:cNvSpPr/>
          <p:nvPr/>
        </p:nvSpPr>
        <p:spPr>
          <a:xfrm>
            <a:off x="990600" y="2776857"/>
            <a:ext cx="4944618" cy="4343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E6EBF3"/>
                </a:solidFill>
                <a:latin typeface="IBM Plex Sans" pitchFamily="34" charset="0"/>
                <a:ea typeface="IBM Plex Sans" pitchFamily="34" charset="-122"/>
                <a:cs typeface="IBM Plex Sans" pitchFamily="34" charset="-120"/>
              </a:rPr>
              <a:t>GET /api/Addresss/7, same session, no header change → returns a </a:t>
            </a:r>
            <a:r>
              <a:rPr lang="en-US" sz="1150" b="1" dirty="0">
                <a:solidFill>
                  <a:srgbClr val="E6EBF3"/>
                </a:solidFill>
                <a:latin typeface="IBM Plex Sans" pitchFamily="34" charset="0"/>
                <a:ea typeface="IBM Plex Sans" pitchFamily="34" charset="-122"/>
                <a:cs typeface="IBM Plex Sans" pitchFamily="34" charset="-120"/>
              </a:rPr>
              <a:t>full record for UserId 25</a:t>
            </a:r>
            <a:r>
              <a:rPr lang="en-US" sz="1150" dirty="0">
                <a:solidFill>
                  <a:srgbClr val="E6EBF3"/>
                </a:solidFill>
                <a:latin typeface="IBM Plex Sans" pitchFamily="34" charset="0"/>
                <a:ea typeface="IBM Plex Sans" pitchFamily="34" charset="-122"/>
                <a:cs typeface="IBM Plex Sans" pitchFamily="34" charset="-120"/>
              </a:rPr>
              <a:t>: name, phone, street address, city, state, zip</a:t>
            </a:r>
            <a:endParaRPr lang="en-US" sz="1150" dirty="0"/>
          </a:p>
        </p:txBody>
      </p:sp>
      <p:sp>
        <p:nvSpPr>
          <p:cNvPr id="10" name="Text 8"/>
          <p:cNvSpPr/>
          <p:nvPr/>
        </p:nvSpPr>
        <p:spPr>
          <a:xfrm>
            <a:off x="812800" y="3452496"/>
            <a:ext cx="5156200" cy="887095"/>
          </a:xfrm>
          <a:prstGeom prst="roundRect">
            <a:avLst>
              <a:gd name="adj" fmla="val 8590"/>
            </a:avLst>
          </a:prstGeom>
          <a:solidFill>
            <a:srgbClr val="3A1414"/>
          </a:solidFill>
          <a:ln/>
        </p:spPr>
        <p:txBody>
          <a:bodyPr wrap="square" lIns="178342" tIns="117382" rIns="0" bIns="91982" rtlCol="0" anchor="t">
            <a:normAutofit/>
          </a:bodyPr>
          <a:lstStyle/>
          <a:p>
            <a:pPr algn="l" indent="0" marL="0">
              <a:lnSpc>
                <a:spcPts val="1595"/>
              </a:lnSpc>
              <a:buNone/>
            </a:pPr>
            <a:r>
              <a:rPr lang="en-US" sz="1100" b="1" dirty="0">
                <a:solidFill>
                  <a:srgbClr val="F7D6CF"/>
                </a:solidFill>
                <a:latin typeface="IBM Plex Sans" pitchFamily="34" charset="0"/>
                <a:ea typeface="IBM Plex Sans" pitchFamily="34" charset="-122"/>
                <a:cs typeface="IBM Plex Sans" pitchFamily="34" charset="-120"/>
              </a:rPr>
              <a:t>Root cause:</a:t>
            </a:r>
            <a:r>
              <a:rPr lang="en-US" sz="1100" dirty="0">
                <a:solidFill>
                  <a:srgbClr val="F7D6CF"/>
                </a:solidFill>
                <a:latin typeface="IBM Plex Sans" pitchFamily="34" charset="0"/>
                <a:ea typeface="IBM Plex Sans" pitchFamily="34" charset="-122"/>
                <a:cs typeface="IBM Plex Sans" pitchFamily="34" charset="-120"/>
              </a:rPr>
              <a:t> the server never checks that address.UserId matches the token's UserId — any session can enumerate IDs and harvest other customers' PII.</a:t>
            </a:r>
            <a:endParaRPr lang="en-US" sz="1100" dirty="0"/>
          </a:p>
        </p:txBody>
      </p:sp>
      <p:sp>
        <p:nvSpPr>
          <p:cNvPr id="11" name="Shape 9"/>
          <p:cNvSpPr/>
          <p:nvPr/>
        </p:nvSpPr>
        <p:spPr>
          <a:xfrm>
            <a:off x="812800" y="3452496"/>
            <a:ext cx="5156200" cy="887095"/>
          </a:xfrm>
          <a:custGeom>
            <a:avLst/>
            <a:gdLst/>
            <a:ahLst/>
            <a:cxnLst/>
            <a:rect l="l" t="t" r="r" b="b"/>
            <a:pathLst>
              <a:path w="5156200" h="887095">
                <a:moveTo>
                  <a:pt x="76200" y="887095"/>
                </a:moveTo>
                <a:lnTo>
                  <a:pt x="76200" y="887095"/>
                </a:lnTo>
                <a:arcTo hR="76200" wR="76200" stAng="5400000" swAng="5400000"/>
                <a:lnTo>
                  <a:pt x="0" y="76200"/>
                </a:lnTo>
                <a:arcTo hR="76200" wR="76200" stAng="10800000" swAng="5400000"/>
                <a:lnTo>
                  <a:pt x="76200" y="0"/>
                </a:lnTo>
                <a:arcTo hR="76200" wR="38100" stAng="16200000" swAng="-5400000"/>
                <a:lnTo>
                  <a:pt x="38100" y="810895"/>
                </a:lnTo>
                <a:arcTo hR="76200" wR="38100" stAng="10800000" swAng="-5400000"/>
                <a:close/>
              </a:path>
            </a:pathLst>
          </a:custGeom>
          <a:solidFill>
            <a:srgbClr val="D8432A"/>
          </a:solidFill>
          <a:ln/>
        </p:spPr>
      </p:sp>
      <p:pic>
        <p:nvPicPr>
          <p:cNvPr id="12" name="Image 0" descr="Burp Repeater showing GET /api/Addresss/7 returning a different user's full address record under the same session">    </p:cNvPr>
          <p:cNvPicPr>
            <a:picLocks noChangeAspect="1"/>
          </p:cNvPicPr>
          <p:nvPr/>
        </p:nvPicPr>
        <p:blipFill>
          <a:blip r:embed="rId1"/>
          <a:srcRect l="0" r="0" t="103" b="103"/>
          <a:stretch/>
        </p:blipFill>
        <p:spPr>
          <a:xfrm>
            <a:off x="6521450" y="1669098"/>
            <a:ext cx="4559300" cy="2082800"/>
          </a:xfrm>
          <a:prstGeom prst="roundRect">
            <a:avLst>
              <a:gd name="adj" fmla="val 4573"/>
            </a:avLst>
          </a:prstGeom>
          <a:effectLst>
            <a:outerShdw sx="100000" sy="100000" kx="0" ky="0" algn="bl" rotWithShape="0" blurRad="190500" dist="76200" dir="5400000">
              <a:srgbClr val="000000">
                <a:alpha val="35000"/>
              </a:srgbClr>
            </a:outerShdw>
          </a:effectLst>
        </p:spPr>
      </p:pic>
      <p:sp>
        <p:nvSpPr>
          <p:cNvPr id="13" name="Shape 10"/>
          <p:cNvSpPr/>
          <p:nvPr/>
        </p:nvSpPr>
        <p:spPr>
          <a:xfrm>
            <a:off x="6518275" y="1665923"/>
            <a:ext cx="4565650" cy="2089150"/>
          </a:xfrm>
          <a:prstGeom prst="roundRect">
            <a:avLst>
              <a:gd name="adj" fmla="val 4711"/>
            </a:avLst>
          </a:prstGeom>
          <a:noFill/>
          <a:ln w="6350">
            <a:solidFill>
              <a:srgbClr val="2E3E5C"/>
            </a:solidFill>
            <a:prstDash val="solid"/>
          </a:ln>
        </p:spPr>
      </p:sp>
      <p:sp>
        <p:nvSpPr>
          <p:cNvPr id="14" name="Text 11"/>
          <p:cNvSpPr/>
          <p:nvPr/>
        </p:nvSpPr>
        <p:spPr>
          <a:xfrm>
            <a:off x="7014686" y="3847148"/>
            <a:ext cx="3572828" cy="194310"/>
          </a:xfrm>
          <a:prstGeom prst="rect">
            <a:avLst/>
          </a:prstGeom>
          <a:noFill/>
          <a:ln/>
        </p:spPr>
        <p:txBody>
          <a:bodyPr wrap="square" lIns="0" tIns="0" rIns="0" bIns="0" rtlCol="0" anchor="t">
            <a:normAutofit/>
          </a:bodyPr>
          <a:lstStyle/>
          <a:p>
            <a:pPr algn="ctr" indent="0" marL="0">
              <a:lnSpc>
                <a:spcPts val="1330"/>
              </a:lnSpc>
              <a:buNone/>
            </a:pPr>
            <a:r>
              <a:rPr lang="en-US" sz="950" i="1" dirty="0">
                <a:solidFill>
                  <a:srgbClr val="8E9DB8"/>
                </a:solidFill>
                <a:latin typeface="IBM Plex Sans" pitchFamily="34" charset="0"/>
                <a:ea typeface="IBM Plex Sans" pitchFamily="34" charset="-122"/>
                <a:cs typeface="IBM Plex Sans" pitchFamily="34" charset="-120"/>
              </a:rPr>
              <a:t>Burp Repeater — cross-account address record returned</a:t>
            </a:r>
            <a:endParaRPr lang="en-US" sz="950" dirty="0"/>
          </a:p>
        </p:txBody>
      </p:sp>
      <p:sp>
        <p:nvSpPr>
          <p:cNvPr id="15" name="Text 12"/>
          <p:cNvSpPr/>
          <p:nvPr/>
        </p:nvSpPr>
        <p:spPr>
          <a:xfrm>
            <a:off x="812800" y="6256021"/>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E7D9B"/>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16" name="Text 13"/>
          <p:cNvSpPr/>
          <p:nvPr/>
        </p:nvSpPr>
        <p:spPr>
          <a:xfrm>
            <a:off x="10373360" y="6256021"/>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E7D9B"/>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5975"/>
            <a:ext cx="2016760" cy="314960"/>
          </a:xfrm>
          <a:prstGeom prst="roundRect">
            <a:avLst>
              <a:gd name="adj" fmla="val 20161"/>
            </a:avLst>
          </a:prstGeom>
          <a:solidFill>
            <a:srgbClr val="5B6B7C"/>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JetBrains Mono" pitchFamily="49" charset="0"/>
                <a:ea typeface="JetBrains Mono" pitchFamily="49" charset="-122"/>
                <a:cs typeface="JetBrains Mono" pitchFamily="49" charset="-120"/>
              </a:rPr>
              <a:t>F-9 · INFORMATIONAL</a:t>
            </a:r>
            <a:endParaRPr lang="en-US" sz="1200" dirty="0"/>
          </a:p>
        </p:txBody>
      </p:sp>
      <p:sp>
        <p:nvSpPr>
          <p:cNvPr id="3" name="Text 1"/>
          <p:cNvSpPr/>
          <p:nvPr>
            <p:ph type="title"/>
          </p:nvPr>
        </p:nvSpPr>
        <p:spPr>
          <a:xfrm>
            <a:off x="2956560" y="812800"/>
            <a:ext cx="6039803" cy="346710"/>
          </a:xfrm>
          <a:prstGeom prst="rect">
            <a:avLst/>
          </a:prstGeom>
          <a:noFill/>
          <a:ln/>
        </p:spPr>
        <p:txBody>
          <a:bodyPr wrap="square" lIns="0" tIns="0" rIns="0" bIns="0" rtlCol="0" anchor="t">
            <a:normAutofit/>
          </a:bodyPr>
          <a:lstStyle/>
          <a:p>
            <a:pPr algn="l" indent="0" marL="0">
              <a:lnSpc>
                <a:spcPts val="2530"/>
              </a:lnSpc>
              <a:buNone/>
            </a:pPr>
            <a:r>
              <a:rPr lang="en-US" sz="2200" b="1" i="0" dirty="0">
                <a:solidFill>
                  <a:srgbClr val="142133"/>
                </a:solidFill>
                <a:latin typeface="IBM Plex Sans" pitchFamily="34" charset="0"/>
                <a:ea typeface="IBM Plex Sans" pitchFamily="34" charset="-122"/>
                <a:cs typeface="IBM Plex Sans" pitchFamily="34" charset="-120"/>
              </a:rPr>
              <a:t>Protection exists — on the wrong route</a:t>
            </a:r>
            <a:endParaRPr lang="en-US" sz="2200" dirty="0"/>
          </a:p>
        </p:txBody>
      </p:sp>
      <p:sp>
        <p:nvSpPr>
          <p:cNvPr id="4" name="Shape 2"/>
          <p:cNvSpPr/>
          <p:nvPr/>
        </p:nvSpPr>
        <p:spPr>
          <a:xfrm>
            <a:off x="819150" y="1369061"/>
            <a:ext cx="5168900" cy="2176463"/>
          </a:xfrm>
          <a:prstGeom prst="roundRect">
            <a:avLst>
              <a:gd name="adj" fmla="val 5543"/>
            </a:avLst>
          </a:prstGeom>
          <a:solidFill>
            <a:srgbClr val="FFFFFF"/>
          </a:solidFill>
          <a:ln w="12700">
            <a:solidFill>
              <a:srgbClr val="4C7A3A"/>
            </a:solidFill>
            <a:prstDash val="solid"/>
          </a:ln>
        </p:spPr>
      </p:sp>
      <p:sp>
        <p:nvSpPr>
          <p:cNvPr id="5" name="Text 3"/>
          <p:cNvSpPr/>
          <p:nvPr/>
        </p:nvSpPr>
        <p:spPr>
          <a:xfrm>
            <a:off x="1051560" y="1601471"/>
            <a:ext cx="484520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C7A3A"/>
                </a:solidFill>
                <a:latin typeface="JetBrains Mono" pitchFamily="49" charset="0"/>
                <a:ea typeface="JetBrains Mono" pitchFamily="49" charset="-122"/>
                <a:cs typeface="JetBrains Mono" pitchFamily="49" charset="-120"/>
              </a:rPr>
              <a:t>/api/Address/{id}</a:t>
            </a:r>
            <a:endParaRPr lang="en-US" sz="1300" dirty="0"/>
          </a:p>
        </p:txBody>
      </p:sp>
      <p:sp>
        <p:nvSpPr>
          <p:cNvPr id="6" name="Text 4"/>
          <p:cNvSpPr/>
          <p:nvPr/>
        </p:nvSpPr>
        <p:spPr>
          <a:xfrm>
            <a:off x="1051560" y="1934211"/>
            <a:ext cx="4845202"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Correctly spelled, singular route</a:t>
            </a:r>
            <a:endParaRPr lang="en-US" sz="1050" dirty="0"/>
          </a:p>
        </p:txBody>
      </p:sp>
      <p:sp>
        <p:nvSpPr>
          <p:cNvPr id="7" name="Shape 5"/>
          <p:cNvSpPr/>
          <p:nvPr/>
        </p:nvSpPr>
        <p:spPr>
          <a:xfrm>
            <a:off x="1051560" y="2222500"/>
            <a:ext cx="4704080" cy="6350"/>
          </a:xfrm>
          <a:prstGeom prst="rect">
            <a:avLst/>
          </a:prstGeom>
          <a:solidFill>
            <a:srgbClr val="E1E5EA"/>
          </a:solidFill>
          <a:ln/>
        </p:spPr>
      </p:sp>
      <p:sp>
        <p:nvSpPr>
          <p:cNvPr id="8" name="Text 6"/>
          <p:cNvSpPr/>
          <p:nvPr/>
        </p:nvSpPr>
        <p:spPr>
          <a:xfrm>
            <a:off x="1051560" y="2330450"/>
            <a:ext cx="4845202" cy="237173"/>
          </a:xfrm>
          <a:prstGeom prst="rect">
            <a:avLst/>
          </a:prstGeom>
          <a:noFill/>
          <a:ln/>
        </p:spPr>
        <p:txBody>
          <a:bodyPr wrap="square" lIns="0" tIns="0" rIns="0" bIns="0" rtlCol="0" anchor="t">
            <a:normAutofit/>
          </a:bodyPr>
          <a:lstStyle/>
          <a:p>
            <a:pPr algn="l" indent="0" marL="0">
              <a:lnSpc>
                <a:spcPts val="1668"/>
              </a:lnSpc>
              <a:buNone/>
            </a:pPr>
            <a:r>
              <a:rPr lang="en-US" sz="1150" dirty="0">
                <a:solidFill>
                  <a:srgbClr val="142133"/>
                </a:solidFill>
                <a:latin typeface="IBM Plex Sans" pitchFamily="34" charset="0"/>
                <a:ea typeface="IBM Plex Sans" pitchFamily="34" charset="-122"/>
                <a:cs typeface="IBM Plex Sans" pitchFamily="34" charset="-120"/>
              </a:rPr>
              <a:t>Request rejected:</a:t>
            </a:r>
            <a:endParaRPr lang="en-US" sz="1150" dirty="0"/>
          </a:p>
        </p:txBody>
      </p:sp>
      <p:sp>
        <p:nvSpPr>
          <p:cNvPr id="9" name="Text 7"/>
          <p:cNvSpPr/>
          <p:nvPr/>
        </p:nvSpPr>
        <p:spPr>
          <a:xfrm>
            <a:off x="1051560" y="2643823"/>
            <a:ext cx="4704080" cy="381000"/>
          </a:xfrm>
          <a:prstGeom prst="roundRect">
            <a:avLst>
              <a:gd name="adj" fmla="val 16667"/>
            </a:avLst>
          </a:prstGeom>
          <a:solidFill>
            <a:srgbClr val="EAF3E7"/>
          </a:solidFill>
          <a:ln/>
        </p:spPr>
        <p:txBody>
          <a:bodyPr wrap="square" lIns="108401" tIns="83001" rIns="0" bIns="57601" rtlCol="0" anchor="t">
            <a:normAutofit/>
          </a:bodyPr>
          <a:lstStyle/>
          <a:p>
            <a:pPr algn="l" indent="0" marL="0">
              <a:lnSpc>
                <a:spcPts val="1400"/>
              </a:lnSpc>
              <a:buNone/>
            </a:pPr>
            <a:r>
              <a:rPr lang="en-US" sz="1000" dirty="0">
                <a:solidFill>
                  <a:srgbClr val="2E4F24"/>
                </a:solidFill>
                <a:latin typeface="JetBrains Mono" pitchFamily="49" charset="0"/>
                <a:ea typeface="JetBrains Mono" pitchFamily="49" charset="-122"/>
                <a:cs typeface="JetBrains Mono" pitchFamily="49" charset="-120"/>
              </a:rPr>
              <a:t>400 — "Malicious activity detected."</a:t>
            </a:r>
            <a:endParaRPr lang="en-US" sz="1000" dirty="0"/>
          </a:p>
        </p:txBody>
      </p:sp>
      <p:sp>
        <p:nvSpPr>
          <p:cNvPr id="10" name="Text 8"/>
          <p:cNvSpPr/>
          <p:nvPr/>
        </p:nvSpPr>
        <p:spPr>
          <a:xfrm>
            <a:off x="1051560" y="3126423"/>
            <a:ext cx="4845202"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An anomaly-detection check is present here …</a:t>
            </a:r>
            <a:endParaRPr lang="en-US" sz="1050" dirty="0"/>
          </a:p>
        </p:txBody>
      </p:sp>
      <p:sp>
        <p:nvSpPr>
          <p:cNvPr id="11" name="Shape 9"/>
          <p:cNvSpPr/>
          <p:nvPr/>
        </p:nvSpPr>
        <p:spPr>
          <a:xfrm>
            <a:off x="6203950" y="1369061"/>
            <a:ext cx="5168900" cy="2176463"/>
          </a:xfrm>
          <a:prstGeom prst="roundRect">
            <a:avLst>
              <a:gd name="adj" fmla="val 5543"/>
            </a:avLst>
          </a:prstGeom>
          <a:solidFill>
            <a:srgbClr val="FFFFFF"/>
          </a:solidFill>
          <a:ln w="12700">
            <a:solidFill>
              <a:srgbClr val="B2311C"/>
            </a:solidFill>
            <a:prstDash val="solid"/>
          </a:ln>
        </p:spPr>
      </p:sp>
      <p:sp>
        <p:nvSpPr>
          <p:cNvPr id="12" name="Text 10"/>
          <p:cNvSpPr/>
          <p:nvPr/>
        </p:nvSpPr>
        <p:spPr>
          <a:xfrm>
            <a:off x="6436360" y="1601471"/>
            <a:ext cx="484520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2311C"/>
                </a:solidFill>
                <a:latin typeface="JetBrains Mono" pitchFamily="49" charset="0"/>
                <a:ea typeface="JetBrains Mono" pitchFamily="49" charset="-122"/>
                <a:cs typeface="JetBrains Mono" pitchFamily="49" charset="-120"/>
              </a:rPr>
              <a:t>/api/Addresss/{id}</a:t>
            </a:r>
            <a:endParaRPr lang="en-US" sz="1300" dirty="0"/>
          </a:p>
        </p:txBody>
      </p:sp>
      <p:sp>
        <p:nvSpPr>
          <p:cNvPr id="13" name="Text 11"/>
          <p:cNvSpPr/>
          <p:nvPr/>
        </p:nvSpPr>
        <p:spPr>
          <a:xfrm>
            <a:off x="6436360" y="1934211"/>
            <a:ext cx="4845202"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Misspelled route — the one the app actually uses</a:t>
            </a:r>
            <a:endParaRPr lang="en-US" sz="1050" dirty="0"/>
          </a:p>
        </p:txBody>
      </p:sp>
      <p:sp>
        <p:nvSpPr>
          <p:cNvPr id="14" name="Shape 12"/>
          <p:cNvSpPr/>
          <p:nvPr/>
        </p:nvSpPr>
        <p:spPr>
          <a:xfrm>
            <a:off x="6436360" y="2222500"/>
            <a:ext cx="4704080" cy="6350"/>
          </a:xfrm>
          <a:prstGeom prst="rect">
            <a:avLst/>
          </a:prstGeom>
          <a:solidFill>
            <a:srgbClr val="E1E5EA"/>
          </a:solidFill>
          <a:ln/>
        </p:spPr>
      </p:sp>
      <p:sp>
        <p:nvSpPr>
          <p:cNvPr id="15" name="Text 13"/>
          <p:cNvSpPr/>
          <p:nvPr/>
        </p:nvSpPr>
        <p:spPr>
          <a:xfrm>
            <a:off x="6436360" y="2330450"/>
            <a:ext cx="4845202" cy="237173"/>
          </a:xfrm>
          <a:prstGeom prst="rect">
            <a:avLst/>
          </a:prstGeom>
          <a:noFill/>
          <a:ln/>
        </p:spPr>
        <p:txBody>
          <a:bodyPr wrap="square" lIns="0" tIns="0" rIns="0" bIns="0" rtlCol="0" anchor="t">
            <a:normAutofit/>
          </a:bodyPr>
          <a:lstStyle/>
          <a:p>
            <a:pPr algn="l" indent="0" marL="0">
              <a:lnSpc>
                <a:spcPts val="1668"/>
              </a:lnSpc>
              <a:buNone/>
            </a:pPr>
            <a:r>
              <a:rPr lang="en-US" sz="1150" dirty="0">
                <a:solidFill>
                  <a:srgbClr val="142133"/>
                </a:solidFill>
                <a:latin typeface="IBM Plex Sans" pitchFamily="34" charset="0"/>
                <a:ea typeface="IBM Plex Sans" pitchFamily="34" charset="-122"/>
                <a:cs typeface="IBM Plex Sans" pitchFamily="34" charset="-120"/>
              </a:rPr>
              <a:t>Request succeeds:</a:t>
            </a:r>
            <a:endParaRPr lang="en-US" sz="1150" dirty="0"/>
          </a:p>
        </p:txBody>
      </p:sp>
      <p:sp>
        <p:nvSpPr>
          <p:cNvPr id="16" name="Text 14"/>
          <p:cNvSpPr/>
          <p:nvPr/>
        </p:nvSpPr>
        <p:spPr>
          <a:xfrm>
            <a:off x="6436360" y="2643823"/>
            <a:ext cx="4704080" cy="381000"/>
          </a:xfrm>
          <a:prstGeom prst="roundRect">
            <a:avLst>
              <a:gd name="adj" fmla="val 16667"/>
            </a:avLst>
          </a:prstGeom>
          <a:solidFill>
            <a:srgbClr val="FBEAE8"/>
          </a:solidFill>
          <a:ln/>
        </p:spPr>
        <p:txBody>
          <a:bodyPr wrap="square" lIns="108401" tIns="83001" rIns="0" bIns="57601" rtlCol="0" anchor="t">
            <a:normAutofit/>
          </a:bodyPr>
          <a:lstStyle/>
          <a:p>
            <a:pPr algn="l" indent="0" marL="0">
              <a:lnSpc>
                <a:spcPts val="1400"/>
              </a:lnSpc>
              <a:buNone/>
            </a:pPr>
            <a:r>
              <a:rPr lang="en-US" sz="1000" dirty="0">
                <a:solidFill>
                  <a:srgbClr val="7A2013"/>
                </a:solidFill>
                <a:latin typeface="JetBrains Mono" pitchFamily="49" charset="0"/>
                <a:ea typeface="JetBrains Mono" pitchFamily="49" charset="-122"/>
                <a:cs typeface="JetBrains Mono" pitchFamily="49" charset="-120"/>
              </a:rPr>
              <a:t>200 OK — full cross-account record (F-8)</a:t>
            </a:r>
            <a:endParaRPr lang="en-US" sz="1000" dirty="0"/>
          </a:p>
        </p:txBody>
      </p:sp>
      <p:sp>
        <p:nvSpPr>
          <p:cNvPr id="17" name="Text 15"/>
          <p:cNvSpPr/>
          <p:nvPr/>
        </p:nvSpPr>
        <p:spPr>
          <a:xfrm>
            <a:off x="6436360" y="3126423"/>
            <a:ext cx="4845202"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 but not here, where it actually matters</a:t>
            </a:r>
            <a:endParaRPr lang="en-US" sz="1050" dirty="0"/>
          </a:p>
        </p:txBody>
      </p:sp>
      <p:sp>
        <p:nvSpPr>
          <p:cNvPr id="18" name="Text 16"/>
          <p:cNvSpPr/>
          <p:nvPr/>
        </p:nvSpPr>
        <p:spPr>
          <a:xfrm>
            <a:off x="812800" y="3780473"/>
            <a:ext cx="10566400" cy="567372"/>
          </a:xfrm>
          <a:prstGeom prst="roundRect">
            <a:avLst>
              <a:gd name="adj" fmla="val 15669"/>
            </a:avLst>
          </a:prstGeom>
          <a:solidFill>
            <a:srgbClr val="1F2E4A"/>
          </a:solidFill>
          <a:ln/>
        </p:spPr>
        <p:txBody>
          <a:bodyPr wrap="square" lIns="177162" tIns="151762" rIns="0" bIns="126362" rtlCol="0" anchor="t">
            <a:normAutofit/>
          </a:bodyPr>
          <a:lstStyle/>
          <a:p>
            <a:pPr algn="l" indent="0" marL="0">
              <a:lnSpc>
                <a:spcPts val="1668"/>
              </a:lnSpc>
              <a:buNone/>
            </a:pPr>
            <a:r>
              <a:rPr lang="en-US" sz="1150" b="1" dirty="0">
                <a:solidFill>
                  <a:srgbClr val="6FA0FF"/>
                </a:solidFill>
                <a:latin typeface="IBM Plex Sans" pitchFamily="34" charset="0"/>
                <a:ea typeface="IBM Plex Sans" pitchFamily="34" charset="-122"/>
                <a:cs typeface="IBM Plex Sans" pitchFamily="34" charset="-120"/>
              </a:rPr>
              <a:t>Takeaway:</a:t>
            </a:r>
            <a:r>
              <a:rPr lang="en-US" sz="1150" dirty="0">
                <a:solidFill>
                  <a:srgbClr val="E6EBF3"/>
                </a:solidFill>
                <a:latin typeface="IBM Plex Sans" pitchFamily="34" charset="0"/>
                <a:ea typeface="IBM Plex Sans" pitchFamily="34" charset="-122"/>
                <a:cs typeface="IBM Plex Sans" pitchFamily="34" charset="-120"/>
              </a:rPr>
              <a:t> protective controls that aren't applied to every alias of a resource give a false sense of coverage. Audit the routing table for duplicate handlers.</a:t>
            </a:r>
            <a:endParaRPr lang="en-US" sz="1150" dirty="0"/>
          </a:p>
        </p:txBody>
      </p:sp>
      <p:sp>
        <p:nvSpPr>
          <p:cNvPr id="19" name="Text 17"/>
          <p:cNvSpPr/>
          <p:nvPr/>
        </p:nvSpPr>
        <p:spPr>
          <a:xfrm>
            <a:off x="812800" y="6256021"/>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20" name="Text 18"/>
          <p:cNvSpPr/>
          <p:nvPr/>
        </p:nvSpPr>
        <p:spPr>
          <a:xfrm>
            <a:off x="10373360" y="6256021"/>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5975"/>
            <a:ext cx="2016760" cy="314960"/>
          </a:xfrm>
          <a:prstGeom prst="roundRect">
            <a:avLst>
              <a:gd name="adj" fmla="val 20161"/>
            </a:avLst>
          </a:prstGeom>
          <a:solidFill>
            <a:srgbClr val="C98A1B"/>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JetBrains Mono" pitchFamily="49" charset="0"/>
                <a:ea typeface="JetBrains Mono" pitchFamily="49" charset="-122"/>
                <a:cs typeface="JetBrains Mono" pitchFamily="49" charset="-120"/>
              </a:rPr>
              <a:t>F-2 &amp; F-10 · MEDIUM</a:t>
            </a:r>
            <a:endParaRPr lang="en-US" sz="1200" dirty="0"/>
          </a:p>
        </p:txBody>
      </p:sp>
      <p:sp>
        <p:nvSpPr>
          <p:cNvPr id="3" name="Text 1"/>
          <p:cNvSpPr/>
          <p:nvPr>
            <p:ph type="title"/>
          </p:nvPr>
        </p:nvSpPr>
        <p:spPr>
          <a:xfrm>
            <a:off x="2956560" y="812800"/>
            <a:ext cx="6132957" cy="346710"/>
          </a:xfrm>
          <a:prstGeom prst="rect">
            <a:avLst/>
          </a:prstGeom>
          <a:noFill/>
          <a:ln/>
        </p:spPr>
        <p:txBody>
          <a:bodyPr wrap="square" lIns="0" tIns="0" rIns="0" bIns="0" rtlCol="0" anchor="t">
            <a:normAutofit/>
          </a:bodyPr>
          <a:lstStyle/>
          <a:p>
            <a:pPr algn="l" indent="0" marL="0">
              <a:lnSpc>
                <a:spcPts val="2530"/>
              </a:lnSpc>
              <a:buNone/>
            </a:pPr>
            <a:r>
              <a:rPr lang="en-US" sz="2200" b="1" i="0" dirty="0">
                <a:solidFill>
                  <a:srgbClr val="142133"/>
                </a:solidFill>
                <a:latin typeface="IBM Plex Sans" pitchFamily="34" charset="0"/>
                <a:ea typeface="IBM Plex Sans" pitchFamily="34" charset="-122"/>
                <a:cs typeface="IBM Plex Sans" pitchFamily="34" charset="-120"/>
              </a:rPr>
              <a:t>Verbose errors leak the backend, twice</a:t>
            </a:r>
            <a:endParaRPr lang="en-US" sz="2200" dirty="0"/>
          </a:p>
        </p:txBody>
      </p:sp>
      <p:sp>
        <p:nvSpPr>
          <p:cNvPr id="4" name="Shape 2"/>
          <p:cNvSpPr/>
          <p:nvPr/>
        </p:nvSpPr>
        <p:spPr>
          <a:xfrm>
            <a:off x="815975" y="1340489"/>
            <a:ext cx="5149850" cy="911860"/>
          </a:xfrm>
          <a:prstGeom prst="roundRect">
            <a:avLst>
              <a:gd name="adj" fmla="val 10794"/>
            </a:avLst>
          </a:prstGeom>
          <a:solidFill>
            <a:srgbClr val="FFFFFF"/>
          </a:solidFill>
          <a:ln w="6350">
            <a:solidFill>
              <a:srgbClr val="E1E5EA"/>
            </a:solidFill>
            <a:prstDash val="solid"/>
          </a:ln>
        </p:spPr>
      </p:sp>
      <p:sp>
        <p:nvSpPr>
          <p:cNvPr id="5" name="Text 3"/>
          <p:cNvSpPr/>
          <p:nvPr/>
        </p:nvSpPr>
        <p:spPr>
          <a:xfrm>
            <a:off x="982980" y="1507492"/>
            <a:ext cx="4960315" cy="212090"/>
          </a:xfrm>
          <a:prstGeom prst="rect">
            <a:avLst/>
          </a:prstGeom>
          <a:noFill/>
          <a:ln/>
        </p:spPr>
        <p:txBody>
          <a:bodyPr wrap="square" lIns="0" tIns="0" rIns="0" bIns="0" rtlCol="0" anchor="t">
            <a:normAutofit/>
          </a:bodyPr>
          <a:lstStyle/>
          <a:p>
            <a:pPr algn="l" indent="0" marL="0">
              <a:lnSpc>
                <a:spcPts val="1470"/>
              </a:lnSpc>
              <a:buNone/>
            </a:pPr>
            <a:r>
              <a:rPr lang="en-US" sz="1050" b="1" spc="50" kern="0" dirty="0">
                <a:solidFill>
                  <a:srgbClr val="C98A1B"/>
                </a:solidFill>
                <a:latin typeface="IBM Plex Sans" pitchFamily="34" charset="0"/>
                <a:ea typeface="IBM Plex Sans" pitchFamily="34" charset="-122"/>
                <a:cs typeface="IBM Plex Sans" pitchFamily="34" charset="-120"/>
              </a:rPr>
              <a:t>TRIGGER 1 — F-2</a:t>
            </a:r>
            <a:endParaRPr lang="en-US" sz="1050" dirty="0"/>
          </a:p>
        </p:txBody>
      </p:sp>
      <p:sp>
        <p:nvSpPr>
          <p:cNvPr id="6" name="Text 4"/>
          <p:cNvSpPr/>
          <p:nvPr/>
        </p:nvSpPr>
        <p:spPr>
          <a:xfrm>
            <a:off x="982980" y="1694179"/>
            <a:ext cx="4960315" cy="4165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2B3647"/>
                </a:solidFill>
                <a:latin typeface="IBM Plex Sans" pitchFamily="34" charset="0"/>
                <a:ea typeface="IBM Plex Sans" pitchFamily="34" charset="-122"/>
                <a:cs typeface="IBM Plex Sans" pitchFamily="34" charset="-120"/>
              </a:rPr>
              <a:t>Duplicate basket item → 500 with a full SequelizeUniqueConstraintError, file paths and query internals</a:t>
            </a:r>
            <a:endParaRPr lang="en-US" sz="1100" dirty="0"/>
          </a:p>
        </p:txBody>
      </p:sp>
      <p:sp>
        <p:nvSpPr>
          <p:cNvPr id="7" name="Shape 5"/>
          <p:cNvSpPr/>
          <p:nvPr/>
        </p:nvSpPr>
        <p:spPr>
          <a:xfrm>
            <a:off x="815975" y="2372996"/>
            <a:ext cx="5149850" cy="911860"/>
          </a:xfrm>
          <a:prstGeom prst="roundRect">
            <a:avLst>
              <a:gd name="adj" fmla="val 10794"/>
            </a:avLst>
          </a:prstGeom>
          <a:solidFill>
            <a:srgbClr val="FFFFFF"/>
          </a:solidFill>
          <a:ln w="6350">
            <a:solidFill>
              <a:srgbClr val="E1E5EA"/>
            </a:solidFill>
            <a:prstDash val="solid"/>
          </a:ln>
        </p:spPr>
      </p:sp>
      <p:sp>
        <p:nvSpPr>
          <p:cNvPr id="8" name="Text 6"/>
          <p:cNvSpPr/>
          <p:nvPr/>
        </p:nvSpPr>
        <p:spPr>
          <a:xfrm>
            <a:off x="982980" y="2540000"/>
            <a:ext cx="4960315" cy="212090"/>
          </a:xfrm>
          <a:prstGeom prst="rect">
            <a:avLst/>
          </a:prstGeom>
          <a:noFill/>
          <a:ln/>
        </p:spPr>
        <p:txBody>
          <a:bodyPr wrap="square" lIns="0" tIns="0" rIns="0" bIns="0" rtlCol="0" anchor="t">
            <a:normAutofit/>
          </a:bodyPr>
          <a:lstStyle/>
          <a:p>
            <a:pPr algn="l" indent="0" marL="0">
              <a:lnSpc>
                <a:spcPts val="1470"/>
              </a:lnSpc>
              <a:buNone/>
            </a:pPr>
            <a:r>
              <a:rPr lang="en-US" sz="1050" b="1" spc="50" kern="0" dirty="0">
                <a:solidFill>
                  <a:srgbClr val="C98A1B"/>
                </a:solidFill>
                <a:latin typeface="IBM Plex Sans" pitchFamily="34" charset="0"/>
                <a:ea typeface="IBM Plex Sans" pitchFamily="34" charset="-122"/>
                <a:cs typeface="IBM Plex Sans" pitchFamily="34" charset="-120"/>
              </a:rPr>
              <a:t>TRIGGER 2 — F-10</a:t>
            </a:r>
            <a:endParaRPr lang="en-US" sz="1050" dirty="0"/>
          </a:p>
        </p:txBody>
      </p:sp>
      <p:sp>
        <p:nvSpPr>
          <p:cNvPr id="9" name="Text 7"/>
          <p:cNvSpPr/>
          <p:nvPr/>
        </p:nvSpPr>
        <p:spPr>
          <a:xfrm>
            <a:off x="982980" y="2726692"/>
            <a:ext cx="4960315" cy="4165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2B3647"/>
                </a:solidFill>
                <a:latin typeface="IBM Plex Sans" pitchFamily="34" charset="0"/>
                <a:ea typeface="IBM Plex Sans" pitchFamily="34" charset="-122"/>
                <a:cs typeface="IBM Plex Sans" pitchFamily="34" charset="-120"/>
              </a:rPr>
              <a:t>GET /rest/basket/ (no ID) → 500 with a full Express/Node.js stack trace, /juice-shop/ file paths exposed</a:t>
            </a:r>
            <a:endParaRPr lang="en-US" sz="1100" dirty="0"/>
          </a:p>
        </p:txBody>
      </p:sp>
      <p:sp>
        <p:nvSpPr>
          <p:cNvPr id="10" name="Text 8"/>
          <p:cNvSpPr/>
          <p:nvPr/>
        </p:nvSpPr>
        <p:spPr>
          <a:xfrm>
            <a:off x="812800" y="3402329"/>
            <a:ext cx="5156200" cy="887095"/>
          </a:xfrm>
          <a:prstGeom prst="roundRect">
            <a:avLst>
              <a:gd name="adj" fmla="val 8590"/>
            </a:avLst>
          </a:prstGeom>
          <a:solidFill>
            <a:srgbClr val="FCF2E1"/>
          </a:solidFill>
          <a:ln/>
        </p:spPr>
        <p:txBody>
          <a:bodyPr wrap="square" lIns="178342" tIns="117382" rIns="0" bIns="91982" rtlCol="0" anchor="t">
            <a:normAutofit/>
          </a:bodyPr>
          <a:lstStyle/>
          <a:p>
            <a:pPr algn="l" indent="0" marL="0">
              <a:lnSpc>
                <a:spcPts val="1595"/>
              </a:lnSpc>
              <a:buNone/>
            </a:pPr>
            <a:r>
              <a:rPr lang="en-US" sz="1100" b="1" dirty="0">
                <a:solidFill>
                  <a:srgbClr val="6B4810"/>
                </a:solidFill>
                <a:latin typeface="IBM Plex Sans" pitchFamily="34" charset="0"/>
                <a:ea typeface="IBM Plex Sans" pitchFamily="34" charset="-122"/>
                <a:cs typeface="IBM Plex Sans" pitchFamily="34" charset="-120"/>
              </a:rPr>
              <a:t>Why it matters:</a:t>
            </a:r>
            <a:r>
              <a:rPr lang="en-US" sz="1100" dirty="0">
                <a:solidFill>
                  <a:srgbClr val="6B4810"/>
                </a:solidFill>
                <a:latin typeface="IBM Plex Sans" pitchFamily="34" charset="0"/>
                <a:ea typeface="IBM Plex Sans" pitchFamily="34" charset="-122"/>
                <a:cs typeface="IBM Plex Sans" pitchFamily="34" charset="-120"/>
              </a:rPr>
              <a:t> two independent, unrelated triggers hit the same gap — this is a systemic error-handling issue, not a one-off, and it fingerprints the stack for further attacks.</a:t>
            </a:r>
            <a:endParaRPr lang="en-US" sz="1100" dirty="0"/>
          </a:p>
        </p:txBody>
      </p:sp>
      <p:sp>
        <p:nvSpPr>
          <p:cNvPr id="11" name="Shape 9"/>
          <p:cNvSpPr/>
          <p:nvPr/>
        </p:nvSpPr>
        <p:spPr>
          <a:xfrm>
            <a:off x="812800" y="3402329"/>
            <a:ext cx="5156200" cy="887095"/>
          </a:xfrm>
          <a:custGeom>
            <a:avLst/>
            <a:gdLst/>
            <a:ahLst/>
            <a:cxnLst/>
            <a:rect l="l" t="t" r="r" b="b"/>
            <a:pathLst>
              <a:path w="5156200" h="887095">
                <a:moveTo>
                  <a:pt x="76200" y="887095"/>
                </a:moveTo>
                <a:lnTo>
                  <a:pt x="76200" y="887095"/>
                </a:lnTo>
                <a:arcTo hR="76200" wR="76200" stAng="5400000" swAng="5400000"/>
                <a:lnTo>
                  <a:pt x="0" y="76200"/>
                </a:lnTo>
                <a:arcTo hR="76200" wR="76200" stAng="10800000" swAng="5400000"/>
                <a:lnTo>
                  <a:pt x="76200" y="0"/>
                </a:lnTo>
                <a:arcTo hR="76200" wR="38100" stAng="16200000" swAng="-5400000"/>
                <a:lnTo>
                  <a:pt x="38100" y="810895"/>
                </a:lnTo>
                <a:arcTo hR="76200" wR="38100" stAng="10800000" swAng="-5400000"/>
                <a:close/>
              </a:path>
            </a:pathLst>
          </a:custGeom>
          <a:solidFill>
            <a:srgbClr val="C98A1B"/>
          </a:solidFill>
          <a:ln/>
        </p:spPr>
      </p:sp>
      <p:pic>
        <p:nvPicPr>
          <p:cNvPr id="12" name="Image 0" descr="Burp Repeater showing a 500 error on a malformed basket path with a full internal stack trace">    </p:cNvPr>
          <p:cNvPicPr>
            <a:picLocks noChangeAspect="1"/>
          </p:cNvPicPr>
          <p:nvPr/>
        </p:nvPicPr>
        <p:blipFill>
          <a:blip r:embed="rId1"/>
          <a:srcRect l="0" r="0" t="103" b="103"/>
          <a:stretch/>
        </p:blipFill>
        <p:spPr>
          <a:xfrm>
            <a:off x="6521450" y="1643063"/>
            <a:ext cx="4559300" cy="2082800"/>
          </a:xfrm>
          <a:prstGeom prst="roundRect">
            <a:avLst>
              <a:gd name="adj" fmla="val 4573"/>
            </a:avLst>
          </a:prstGeom>
          <a:effectLst>
            <a:outerShdw sx="100000" sy="100000" kx="0" ky="0" algn="bl" rotWithShape="0" blurRad="190500" dist="76200" dir="5400000">
              <a:srgbClr val="142133">
                <a:alpha val="18000"/>
              </a:srgbClr>
            </a:outerShdw>
          </a:effectLst>
        </p:spPr>
      </p:pic>
      <p:sp>
        <p:nvSpPr>
          <p:cNvPr id="13" name="Shape 10"/>
          <p:cNvSpPr/>
          <p:nvPr/>
        </p:nvSpPr>
        <p:spPr>
          <a:xfrm>
            <a:off x="6518275" y="1639888"/>
            <a:ext cx="4565650" cy="2089150"/>
          </a:xfrm>
          <a:prstGeom prst="roundRect">
            <a:avLst>
              <a:gd name="adj" fmla="val 4711"/>
            </a:avLst>
          </a:prstGeom>
          <a:noFill/>
          <a:ln w="6350">
            <a:solidFill>
              <a:srgbClr val="D7DCE2"/>
            </a:solidFill>
            <a:prstDash val="solid"/>
          </a:ln>
        </p:spPr>
      </p:sp>
      <p:sp>
        <p:nvSpPr>
          <p:cNvPr id="14" name="Text 11"/>
          <p:cNvSpPr/>
          <p:nvPr/>
        </p:nvSpPr>
        <p:spPr>
          <a:xfrm>
            <a:off x="7073178" y="3821113"/>
            <a:ext cx="3455765" cy="194310"/>
          </a:xfrm>
          <a:prstGeom prst="rect">
            <a:avLst/>
          </a:prstGeom>
          <a:noFill/>
          <a:ln/>
        </p:spPr>
        <p:txBody>
          <a:bodyPr wrap="square" lIns="0" tIns="0" rIns="0" bIns="0" rtlCol="0" anchor="t">
            <a:normAutofit/>
          </a:bodyPr>
          <a:lstStyle/>
          <a:p>
            <a:pPr algn="ctr" indent="0" marL="0">
              <a:lnSpc>
                <a:spcPts val="1330"/>
              </a:lnSpc>
              <a:buNone/>
            </a:pPr>
            <a:r>
              <a:rPr lang="en-US" sz="950" i="1" dirty="0">
                <a:solidFill>
                  <a:srgbClr val="9AA4B2"/>
                </a:solidFill>
                <a:latin typeface="IBM Plex Sans" pitchFamily="34" charset="0"/>
                <a:ea typeface="IBM Plex Sans" pitchFamily="34" charset="-122"/>
                <a:cs typeface="IBM Plex Sans" pitchFamily="34" charset="-120"/>
              </a:rPr>
              <a:t>Burp Repeater — 500 error exposing internal file paths</a:t>
            </a:r>
            <a:endParaRPr lang="en-US" sz="950" dirty="0"/>
          </a:p>
        </p:txBody>
      </p:sp>
      <p:sp>
        <p:nvSpPr>
          <p:cNvPr id="15" name="Text 12"/>
          <p:cNvSpPr/>
          <p:nvPr/>
        </p:nvSpPr>
        <p:spPr>
          <a:xfrm>
            <a:off x="812800" y="6256021"/>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16" name="Text 13"/>
          <p:cNvSpPr/>
          <p:nvPr/>
        </p:nvSpPr>
        <p:spPr>
          <a:xfrm>
            <a:off x="10373360" y="6256021"/>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5975"/>
            <a:ext cx="1376680" cy="314960"/>
          </a:xfrm>
          <a:prstGeom prst="roundRect">
            <a:avLst>
              <a:gd name="adj" fmla="val 20161"/>
            </a:avLst>
          </a:prstGeom>
          <a:solidFill>
            <a:srgbClr val="C98A1B"/>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JetBrains Mono" pitchFamily="49" charset="0"/>
                <a:ea typeface="JetBrains Mono" pitchFamily="49" charset="-122"/>
                <a:cs typeface="JetBrains Mono" pitchFamily="49" charset="-120"/>
              </a:rPr>
              <a:t>F-3 · MEDIUM</a:t>
            </a:r>
            <a:endParaRPr lang="en-US" sz="1200" dirty="0"/>
          </a:p>
        </p:txBody>
      </p:sp>
      <p:sp>
        <p:nvSpPr>
          <p:cNvPr id="3" name="Text 1"/>
          <p:cNvSpPr/>
          <p:nvPr>
            <p:ph type="title"/>
          </p:nvPr>
        </p:nvSpPr>
        <p:spPr>
          <a:xfrm>
            <a:off x="2316480" y="812800"/>
            <a:ext cx="6226492" cy="346710"/>
          </a:xfrm>
          <a:prstGeom prst="rect">
            <a:avLst/>
          </a:prstGeom>
          <a:noFill/>
          <a:ln/>
        </p:spPr>
        <p:txBody>
          <a:bodyPr wrap="square" lIns="0" tIns="0" rIns="0" bIns="0" rtlCol="0" anchor="t">
            <a:normAutofit/>
          </a:bodyPr>
          <a:lstStyle/>
          <a:p>
            <a:pPr algn="l" indent="0" marL="0">
              <a:lnSpc>
                <a:spcPts val="2530"/>
              </a:lnSpc>
              <a:buNone/>
            </a:pPr>
            <a:r>
              <a:rPr lang="en-US" sz="2200" b="1" i="0" dirty="0">
                <a:solidFill>
                  <a:srgbClr val="142133"/>
                </a:solidFill>
                <a:latin typeface="IBM Plex Sans" pitchFamily="34" charset="0"/>
                <a:ea typeface="IBM Plex Sans" pitchFamily="34" charset="-122"/>
                <a:cs typeface="IBM Plex Sans" pitchFamily="34" charset="-120"/>
              </a:rPr>
              <a:t>Empty search returns the entire catalog</a:t>
            </a:r>
            <a:endParaRPr lang="en-US" sz="2200" dirty="0"/>
          </a:p>
        </p:txBody>
      </p:sp>
      <p:sp>
        <p:nvSpPr>
          <p:cNvPr id="4" name="Shape 2"/>
          <p:cNvSpPr/>
          <p:nvPr/>
        </p:nvSpPr>
        <p:spPr>
          <a:xfrm>
            <a:off x="815975" y="1365889"/>
            <a:ext cx="5175250" cy="1641793"/>
          </a:xfrm>
          <a:prstGeom prst="roundRect">
            <a:avLst>
              <a:gd name="adj" fmla="val 7542"/>
            </a:avLst>
          </a:prstGeom>
          <a:solidFill>
            <a:srgbClr val="FFFFFF"/>
          </a:solidFill>
          <a:ln w="6350">
            <a:solidFill>
              <a:srgbClr val="E1E5EA"/>
            </a:solidFill>
            <a:prstDash val="solid"/>
          </a:ln>
        </p:spPr>
      </p:sp>
      <p:sp>
        <p:nvSpPr>
          <p:cNvPr id="5" name="Text 3"/>
          <p:cNvSpPr/>
          <p:nvPr/>
        </p:nvSpPr>
        <p:spPr>
          <a:xfrm>
            <a:off x="1046480" y="1596392"/>
            <a:ext cx="4855667" cy="212090"/>
          </a:xfrm>
          <a:prstGeom prst="rect">
            <a:avLst/>
          </a:prstGeom>
          <a:noFill/>
          <a:ln/>
        </p:spPr>
        <p:txBody>
          <a:bodyPr wrap="square" lIns="0" tIns="0" rIns="0" bIns="0" rtlCol="0" anchor="t">
            <a:normAutofit/>
          </a:bodyPr>
          <a:lstStyle/>
          <a:p>
            <a:pPr algn="l" indent="0" marL="0">
              <a:lnSpc>
                <a:spcPts val="1470"/>
              </a:lnSpc>
              <a:buNone/>
            </a:pPr>
            <a:r>
              <a:rPr lang="en-US" sz="1050" b="1" spc="50" kern="0" dirty="0">
                <a:solidFill>
                  <a:srgbClr val="2F5FCB"/>
                </a:solidFill>
                <a:latin typeface="IBM Plex Sans" pitchFamily="34" charset="0"/>
                <a:ea typeface="IBM Plex Sans" pitchFamily="34" charset="-122"/>
                <a:cs typeface="IBM Plex Sans" pitchFamily="34" charset="-120"/>
              </a:rPr>
              <a:t>UNBOUNDED RESPONSE</a:t>
            </a:r>
            <a:endParaRPr lang="en-US" sz="1050" dirty="0"/>
          </a:p>
        </p:txBody>
      </p:sp>
      <p:sp>
        <p:nvSpPr>
          <p:cNvPr id="6" name="Text 4"/>
          <p:cNvSpPr/>
          <p:nvPr/>
        </p:nvSpPr>
        <p:spPr>
          <a:xfrm>
            <a:off x="1046480" y="1871979"/>
            <a:ext cx="4855667"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2B3647"/>
                </a:solidFill>
                <a:latin typeface="JetBrains Mono" pitchFamily="49" charset="0"/>
                <a:ea typeface="JetBrains Mono" pitchFamily="49" charset="-122"/>
                <a:cs typeface="JetBrains Mono" pitchFamily="49" charset="-120"/>
              </a:rPr>
              <a:t>GET /rest/products/search?q=</a:t>
            </a:r>
            <a:endParaRPr lang="en-US" sz="1050" dirty="0"/>
          </a:p>
        </p:txBody>
      </p:sp>
      <p:sp>
        <p:nvSpPr>
          <p:cNvPr id="7" name="Text 5"/>
          <p:cNvSpPr/>
          <p:nvPr/>
        </p:nvSpPr>
        <p:spPr>
          <a:xfrm>
            <a:off x="1046480" y="2147571"/>
            <a:ext cx="4855667" cy="448945"/>
          </a:xfrm>
          <a:prstGeom prst="rect">
            <a:avLst/>
          </a:prstGeom>
          <a:noFill/>
          <a:ln/>
        </p:spPr>
        <p:txBody>
          <a:bodyPr wrap="square" lIns="0" tIns="0" rIns="0" bIns="0" rtlCol="0" anchor="t">
            <a:normAutofit/>
          </a:bodyPr>
          <a:lstStyle/>
          <a:p>
            <a:pPr algn="l" indent="0" marL="0">
              <a:lnSpc>
                <a:spcPts val="1668"/>
              </a:lnSpc>
              <a:buNone/>
            </a:pPr>
            <a:r>
              <a:rPr lang="en-US" sz="1150" dirty="0">
                <a:solidFill>
                  <a:srgbClr val="2B3647"/>
                </a:solidFill>
                <a:latin typeface="IBM Plex Sans" pitchFamily="34" charset="0"/>
                <a:ea typeface="IBM Plex Sans" pitchFamily="34" charset="-122"/>
                <a:cs typeface="IBM Plex Sans" pitchFamily="34" charset="-120"/>
              </a:rPr>
              <a:t>200 OK, 16,563 bytes — the complete, unfiltered product catalog returned in one response, no pagination or bound.</a:t>
            </a:r>
            <a:endParaRPr lang="en-US" sz="1150" dirty="0"/>
          </a:p>
        </p:txBody>
      </p:sp>
      <p:sp>
        <p:nvSpPr>
          <p:cNvPr id="8" name="Shape 6"/>
          <p:cNvSpPr/>
          <p:nvPr/>
        </p:nvSpPr>
        <p:spPr>
          <a:xfrm>
            <a:off x="6200775" y="1365889"/>
            <a:ext cx="5175250" cy="1641793"/>
          </a:xfrm>
          <a:prstGeom prst="roundRect">
            <a:avLst>
              <a:gd name="adj" fmla="val 7542"/>
            </a:avLst>
          </a:prstGeom>
          <a:solidFill>
            <a:srgbClr val="FFFFFF"/>
          </a:solidFill>
          <a:ln w="6350">
            <a:solidFill>
              <a:srgbClr val="E1E5EA"/>
            </a:solidFill>
            <a:prstDash val="solid"/>
          </a:ln>
        </p:spPr>
      </p:sp>
      <p:sp>
        <p:nvSpPr>
          <p:cNvPr id="9" name="Text 7"/>
          <p:cNvSpPr/>
          <p:nvPr/>
        </p:nvSpPr>
        <p:spPr>
          <a:xfrm>
            <a:off x="6431280" y="1596392"/>
            <a:ext cx="4855667" cy="212090"/>
          </a:xfrm>
          <a:prstGeom prst="rect">
            <a:avLst/>
          </a:prstGeom>
          <a:noFill/>
          <a:ln/>
        </p:spPr>
        <p:txBody>
          <a:bodyPr wrap="square" lIns="0" tIns="0" rIns="0" bIns="0" rtlCol="0" anchor="t">
            <a:normAutofit/>
          </a:bodyPr>
          <a:lstStyle/>
          <a:p>
            <a:pPr algn="l" indent="0" marL="0">
              <a:lnSpc>
                <a:spcPts val="1470"/>
              </a:lnSpc>
              <a:buNone/>
            </a:pPr>
            <a:r>
              <a:rPr lang="en-US" sz="1050" b="1" spc="50" kern="0" dirty="0">
                <a:solidFill>
                  <a:srgbClr val="B2311C"/>
                </a:solidFill>
                <a:latin typeface="IBM Plex Sans" pitchFamily="34" charset="0"/>
                <a:ea typeface="IBM Plex Sans" pitchFamily="34" charset="-122"/>
                <a:cs typeface="IBM Plex Sans" pitchFamily="34" charset="-120"/>
              </a:rPr>
              <a:t>STORED XSS LEAD</a:t>
            </a:r>
            <a:endParaRPr lang="en-US" sz="1050" dirty="0"/>
          </a:p>
        </p:txBody>
      </p:sp>
      <p:sp>
        <p:nvSpPr>
          <p:cNvPr id="10" name="Text 8"/>
          <p:cNvSpPr/>
          <p:nvPr/>
        </p:nvSpPr>
        <p:spPr>
          <a:xfrm>
            <a:off x="6431280" y="1871979"/>
            <a:ext cx="4855667" cy="206375"/>
          </a:xfrm>
          <a:prstGeom prst="rect">
            <a:avLst/>
          </a:prstGeom>
          <a:noFill/>
          <a:ln/>
        </p:spPr>
        <p:txBody>
          <a:bodyPr wrap="square" lIns="0" tIns="0" rIns="0" bIns="0" rtlCol="0" anchor="t">
            <a:normAutofit/>
          </a:bodyPr>
          <a:lstStyle/>
          <a:p>
            <a:pPr algn="l" indent="0" marL="0">
              <a:lnSpc>
                <a:spcPts val="1425"/>
              </a:lnSpc>
              <a:buNone/>
            </a:pPr>
            <a:r>
              <a:rPr lang="en-US" sz="950" dirty="0">
                <a:solidFill>
                  <a:srgbClr val="2B3647"/>
                </a:solidFill>
                <a:latin typeface="JetBrains Mono" pitchFamily="49" charset="0"/>
                <a:ea typeface="JetBrains Mono" pitchFamily="49" charset="-122"/>
                <a:cs typeface="JetBrains Mono" pitchFamily="49" charset="-120"/>
              </a:rPr>
              <a:t>"Can be &lt;a href=\"/#recycle\"&gt;sent back&lt;/a&gt;…"</a:t>
            </a:r>
            <a:endParaRPr lang="en-US" sz="950" dirty="0"/>
          </a:p>
        </p:txBody>
      </p:sp>
      <p:sp>
        <p:nvSpPr>
          <p:cNvPr id="11" name="Text 9"/>
          <p:cNvSpPr/>
          <p:nvPr/>
        </p:nvSpPr>
        <p:spPr>
          <a:xfrm>
            <a:off x="6431280" y="2141854"/>
            <a:ext cx="4855667" cy="660718"/>
          </a:xfrm>
          <a:prstGeom prst="rect">
            <a:avLst/>
          </a:prstGeom>
          <a:noFill/>
          <a:ln/>
        </p:spPr>
        <p:txBody>
          <a:bodyPr wrap="square" lIns="0" tIns="0" rIns="0" bIns="0" rtlCol="0" anchor="t">
            <a:normAutofit/>
          </a:bodyPr>
          <a:lstStyle/>
          <a:p>
            <a:pPr algn="l" indent="0" marL="0">
              <a:lnSpc>
                <a:spcPts val="1668"/>
              </a:lnSpc>
              <a:buNone/>
            </a:pPr>
            <a:r>
              <a:rPr lang="en-US" sz="1150" dirty="0">
                <a:solidFill>
                  <a:srgbClr val="2B3647"/>
                </a:solidFill>
                <a:latin typeface="IBM Plex Sans" pitchFamily="34" charset="0"/>
                <a:ea typeface="IBM Plex Sans" pitchFamily="34" charset="-122"/>
                <a:cs typeface="IBM Plex Sans" pitchFamily="34" charset="-120"/>
              </a:rPr>
              <a:t>Product descriptions carry raw, unescaped HTML in the JSON response — a risk if rendered without output encoding (client-side rendering not yet verified).</a:t>
            </a:r>
            <a:endParaRPr lang="en-US" sz="1150" dirty="0"/>
          </a:p>
        </p:txBody>
      </p:sp>
      <p:sp>
        <p:nvSpPr>
          <p:cNvPr id="12" name="Text 10"/>
          <p:cNvSpPr/>
          <p:nvPr/>
        </p:nvSpPr>
        <p:spPr>
          <a:xfrm>
            <a:off x="812800" y="3239455"/>
            <a:ext cx="10566400" cy="567372"/>
          </a:xfrm>
          <a:prstGeom prst="roundRect">
            <a:avLst>
              <a:gd name="adj" fmla="val 15669"/>
            </a:avLst>
          </a:prstGeom>
          <a:solidFill>
            <a:srgbClr val="1F2E4A"/>
          </a:solidFill>
          <a:ln/>
        </p:spPr>
        <p:txBody>
          <a:bodyPr wrap="square" lIns="177162" tIns="151762" rIns="0" bIns="126362" rtlCol="0" anchor="t">
            <a:normAutofit/>
          </a:bodyPr>
          <a:lstStyle/>
          <a:p>
            <a:pPr algn="l" indent="0" marL="0">
              <a:lnSpc>
                <a:spcPts val="1668"/>
              </a:lnSpc>
              <a:buNone/>
            </a:pPr>
            <a:r>
              <a:rPr lang="en-US" sz="1150" b="1" dirty="0">
                <a:solidFill>
                  <a:srgbClr val="6FA0FF"/>
                </a:solidFill>
                <a:latin typeface="IBM Plex Sans" pitchFamily="34" charset="0"/>
                <a:ea typeface="IBM Plex Sans" pitchFamily="34" charset="-122"/>
                <a:cs typeface="IBM Plex Sans" pitchFamily="34" charset="-120"/>
              </a:rPr>
              <a:t>Recommendation:</a:t>
            </a:r>
            <a:r>
              <a:rPr lang="en-US" sz="1150" dirty="0">
                <a:solidFill>
                  <a:srgbClr val="E6EBF3"/>
                </a:solidFill>
                <a:latin typeface="IBM Plex Sans" pitchFamily="34" charset="0"/>
                <a:ea typeface="IBM Plex Sans" pitchFamily="34" charset="-122"/>
                <a:cs typeface="IBM Plex Sans" pitchFamily="34" charset="-120"/>
              </a:rPr>
              <a:t> reject or bound empty queries; sanitize or encode stored HTML before it reaches the API response.</a:t>
            </a:r>
            <a:endParaRPr lang="en-US" sz="1150" dirty="0"/>
          </a:p>
        </p:txBody>
      </p:sp>
      <p:sp>
        <p:nvSpPr>
          <p:cNvPr id="13" name="Text 11"/>
          <p:cNvSpPr/>
          <p:nvPr/>
        </p:nvSpPr>
        <p:spPr>
          <a:xfrm>
            <a:off x="812800" y="6256021"/>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14" name="Text 12"/>
          <p:cNvSpPr/>
          <p:nvPr/>
        </p:nvSpPr>
        <p:spPr>
          <a:xfrm>
            <a:off x="10373360" y="6256021"/>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2098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2F5FCB"/>
                </a:solidFill>
                <a:latin typeface="JetBrains Mono" pitchFamily="49" charset="0"/>
                <a:ea typeface="JetBrains Mono" pitchFamily="49" charset="-122"/>
                <a:cs typeface="JetBrains Mono" pitchFamily="49" charset="-120"/>
              </a:rPr>
              <a:t>WORKING CONTROLS &amp; OPEN ITEMS</a:t>
            </a:r>
            <a:endParaRPr lang="en-US" sz="1100" dirty="0"/>
          </a:p>
        </p:txBody>
      </p:sp>
      <p:sp>
        <p:nvSpPr>
          <p:cNvPr id="3" name="Text 1"/>
          <p:cNvSpPr/>
          <p:nvPr>
            <p:ph type="title"/>
          </p:nvPr>
        </p:nvSpPr>
        <p:spPr>
          <a:xfrm>
            <a:off x="812800" y="1109979"/>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3"/>
                </a:solidFill>
                <a:latin typeface="IBM Plex Sans" pitchFamily="34" charset="0"/>
                <a:ea typeface="IBM Plex Sans" pitchFamily="34" charset="-122"/>
                <a:cs typeface="IBM Plex Sans" pitchFamily="34" charset="-120"/>
              </a:rPr>
              <a:t>Not everything failed</a:t>
            </a:r>
            <a:endParaRPr lang="en-US" sz="2800" dirty="0"/>
          </a:p>
        </p:txBody>
      </p:sp>
      <p:sp>
        <p:nvSpPr>
          <p:cNvPr id="4" name="Shape 2"/>
          <p:cNvSpPr/>
          <p:nvPr/>
        </p:nvSpPr>
        <p:spPr>
          <a:xfrm>
            <a:off x="815975" y="1750696"/>
            <a:ext cx="5187950" cy="1104900"/>
          </a:xfrm>
          <a:prstGeom prst="roundRect">
            <a:avLst>
              <a:gd name="adj" fmla="val 11207"/>
            </a:avLst>
          </a:prstGeom>
          <a:solidFill>
            <a:srgbClr val="FFFFFF"/>
          </a:solidFill>
          <a:ln w="6350">
            <a:solidFill>
              <a:srgbClr val="E1E5EA"/>
            </a:solidFill>
            <a:prstDash val="solid"/>
          </a:ln>
        </p:spPr>
      </p:sp>
      <p:sp>
        <p:nvSpPr>
          <p:cNvPr id="5" name="Text 3"/>
          <p:cNvSpPr/>
          <p:nvPr/>
        </p:nvSpPr>
        <p:spPr>
          <a:xfrm>
            <a:off x="1021080" y="1955800"/>
            <a:ext cx="394970" cy="232410"/>
          </a:xfrm>
          <a:prstGeom prst="roundRect">
            <a:avLst>
              <a:gd name="adj" fmla="val 21858"/>
            </a:avLst>
          </a:prstGeom>
          <a:solidFill>
            <a:srgbClr val="4C7A3A"/>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JetBrains Mono" pitchFamily="49" charset="0"/>
                <a:ea typeface="JetBrains Mono" pitchFamily="49" charset="-122"/>
                <a:cs typeface="JetBrains Mono" pitchFamily="49" charset="-120"/>
              </a:rPr>
              <a:t>F-4</a:t>
            </a:r>
            <a:endParaRPr lang="en-US" sz="950" dirty="0"/>
          </a:p>
        </p:txBody>
      </p:sp>
      <p:sp>
        <p:nvSpPr>
          <p:cNvPr id="6" name="Text 4"/>
          <p:cNvSpPr/>
          <p:nvPr/>
        </p:nvSpPr>
        <p:spPr>
          <a:xfrm>
            <a:off x="1504950" y="1972946"/>
            <a:ext cx="2934176"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3"/>
                </a:solidFill>
                <a:latin typeface="IBM Plex Sans" pitchFamily="34" charset="0"/>
                <a:ea typeface="IBM Plex Sans" pitchFamily="34" charset="-122"/>
                <a:cs typeface="IBM Plex Sans" pitchFamily="34" charset="-120"/>
              </a:rPr>
              <a:t>Auth header enforced on basket</a:t>
            </a:r>
            <a:endParaRPr lang="en-US" sz="1300" dirty="0"/>
          </a:p>
        </p:txBody>
      </p:sp>
      <p:sp>
        <p:nvSpPr>
          <p:cNvPr id="7" name="Text 5"/>
          <p:cNvSpPr/>
          <p:nvPr/>
        </p:nvSpPr>
        <p:spPr>
          <a:xfrm>
            <a:off x="1021080" y="2277114"/>
            <a:ext cx="4921072" cy="39878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Stripping the Authorization header on /rest/basket/{id} correctly returns 401 Unauthorized.</a:t>
            </a:r>
            <a:endParaRPr lang="en-US" sz="1050" dirty="0"/>
          </a:p>
        </p:txBody>
      </p:sp>
      <p:sp>
        <p:nvSpPr>
          <p:cNvPr id="8" name="Shape 6"/>
          <p:cNvSpPr/>
          <p:nvPr/>
        </p:nvSpPr>
        <p:spPr>
          <a:xfrm>
            <a:off x="6188075" y="1750696"/>
            <a:ext cx="5187950" cy="1104900"/>
          </a:xfrm>
          <a:prstGeom prst="roundRect">
            <a:avLst>
              <a:gd name="adj" fmla="val 11207"/>
            </a:avLst>
          </a:prstGeom>
          <a:solidFill>
            <a:srgbClr val="FFFFFF"/>
          </a:solidFill>
          <a:ln w="6350">
            <a:solidFill>
              <a:srgbClr val="E1E5EA"/>
            </a:solidFill>
            <a:prstDash val="solid"/>
          </a:ln>
        </p:spPr>
      </p:sp>
      <p:sp>
        <p:nvSpPr>
          <p:cNvPr id="9" name="Text 7"/>
          <p:cNvSpPr/>
          <p:nvPr/>
        </p:nvSpPr>
        <p:spPr>
          <a:xfrm>
            <a:off x="6393180" y="1955800"/>
            <a:ext cx="394970" cy="232410"/>
          </a:xfrm>
          <a:prstGeom prst="roundRect">
            <a:avLst>
              <a:gd name="adj" fmla="val 21858"/>
            </a:avLst>
          </a:prstGeom>
          <a:solidFill>
            <a:srgbClr val="4C7A3A"/>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JetBrains Mono" pitchFamily="49" charset="0"/>
                <a:ea typeface="JetBrains Mono" pitchFamily="49" charset="-122"/>
                <a:cs typeface="JetBrains Mono" pitchFamily="49" charset="-120"/>
              </a:rPr>
              <a:t>F-5</a:t>
            </a:r>
            <a:endParaRPr lang="en-US" sz="950" dirty="0"/>
          </a:p>
        </p:txBody>
      </p:sp>
      <p:sp>
        <p:nvSpPr>
          <p:cNvPr id="10" name="Text 8"/>
          <p:cNvSpPr/>
          <p:nvPr/>
        </p:nvSpPr>
        <p:spPr>
          <a:xfrm>
            <a:off x="6877050" y="1972946"/>
            <a:ext cx="239649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3"/>
                </a:solidFill>
                <a:latin typeface="IBM Plex Sans" pitchFamily="34" charset="0"/>
                <a:ea typeface="IBM Plex Sans" pitchFamily="34" charset="-122"/>
                <a:cs typeface="IBM Plex Sans" pitchFamily="34" charset="-120"/>
              </a:rPr>
              <a:t>SQLi probe handled safely</a:t>
            </a:r>
            <a:endParaRPr lang="en-US" sz="1300" dirty="0"/>
          </a:p>
        </p:txBody>
      </p:sp>
      <p:sp>
        <p:nvSpPr>
          <p:cNvPr id="11" name="Text 9"/>
          <p:cNvSpPr/>
          <p:nvPr/>
        </p:nvSpPr>
        <p:spPr>
          <a:xfrm>
            <a:off x="6393180" y="2277114"/>
            <a:ext cx="4921072" cy="39878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A single-quote probe (') on the search parameter returned an empty result — no DB error or anomalous behavior.</a:t>
            </a:r>
            <a:endParaRPr lang="en-US" sz="1050" dirty="0"/>
          </a:p>
        </p:txBody>
      </p:sp>
      <p:sp>
        <p:nvSpPr>
          <p:cNvPr id="12" name="Shape 10"/>
          <p:cNvSpPr/>
          <p:nvPr/>
        </p:nvSpPr>
        <p:spPr>
          <a:xfrm>
            <a:off x="815975" y="3039746"/>
            <a:ext cx="5187950" cy="1291590"/>
          </a:xfrm>
          <a:prstGeom prst="roundRect">
            <a:avLst>
              <a:gd name="adj" fmla="val 9587"/>
            </a:avLst>
          </a:prstGeom>
          <a:solidFill>
            <a:srgbClr val="FFFFFF"/>
          </a:solidFill>
          <a:ln w="6350">
            <a:solidFill>
              <a:srgbClr val="E1E5EA"/>
            </a:solidFill>
            <a:prstDash val="solid"/>
          </a:ln>
        </p:spPr>
      </p:sp>
      <p:sp>
        <p:nvSpPr>
          <p:cNvPr id="13" name="Text 11"/>
          <p:cNvSpPr/>
          <p:nvPr/>
        </p:nvSpPr>
        <p:spPr>
          <a:xfrm>
            <a:off x="1021080" y="3244850"/>
            <a:ext cx="394970" cy="232410"/>
          </a:xfrm>
          <a:prstGeom prst="roundRect">
            <a:avLst>
              <a:gd name="adj" fmla="val 21858"/>
            </a:avLst>
          </a:prstGeom>
          <a:solidFill>
            <a:srgbClr val="6E4A9E"/>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JetBrains Mono" pitchFamily="49" charset="0"/>
                <a:ea typeface="JetBrains Mono" pitchFamily="49" charset="-122"/>
                <a:cs typeface="JetBrains Mono" pitchFamily="49" charset="-120"/>
              </a:rPr>
              <a:t>F-6</a:t>
            </a:r>
            <a:endParaRPr lang="en-US" sz="950" dirty="0"/>
          </a:p>
        </p:txBody>
      </p:sp>
      <p:sp>
        <p:nvSpPr>
          <p:cNvPr id="14" name="Text 12"/>
          <p:cNvSpPr/>
          <p:nvPr/>
        </p:nvSpPr>
        <p:spPr>
          <a:xfrm>
            <a:off x="1504950" y="3261996"/>
            <a:ext cx="2265140"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3"/>
                </a:solidFill>
                <a:latin typeface="IBM Plex Sans" pitchFamily="34" charset="0"/>
                <a:ea typeface="IBM Plex Sans" pitchFamily="34" charset="-122"/>
                <a:cs typeface="IBM Plex Sans" pitchFamily="34" charset="-120"/>
              </a:rPr>
              <a:t>Basket IDOR — still open</a:t>
            </a:r>
            <a:endParaRPr lang="en-US" sz="1300" dirty="0"/>
          </a:p>
        </p:txBody>
      </p:sp>
      <p:sp>
        <p:nvSpPr>
          <p:cNvPr id="15" name="Text 13"/>
          <p:cNvSpPr/>
          <p:nvPr/>
        </p:nvSpPr>
        <p:spPr>
          <a:xfrm>
            <a:off x="1021080" y="3566164"/>
            <a:ext cx="4921072" cy="58547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Inconclusive at the time, but F-8's confirmed address IDOR used the right technique — basket should be retested with a fixed token across enumerated IDs.</a:t>
            </a:r>
            <a:endParaRPr lang="en-US" sz="1050" dirty="0"/>
          </a:p>
        </p:txBody>
      </p:sp>
      <p:sp>
        <p:nvSpPr>
          <p:cNvPr id="16" name="Shape 14"/>
          <p:cNvSpPr/>
          <p:nvPr/>
        </p:nvSpPr>
        <p:spPr>
          <a:xfrm>
            <a:off x="6188075" y="3039746"/>
            <a:ext cx="5187950" cy="1291590"/>
          </a:xfrm>
          <a:prstGeom prst="roundRect">
            <a:avLst>
              <a:gd name="adj" fmla="val 9587"/>
            </a:avLst>
          </a:prstGeom>
          <a:solidFill>
            <a:srgbClr val="FFFFFF"/>
          </a:solidFill>
          <a:ln w="6350">
            <a:solidFill>
              <a:srgbClr val="E1E5EA"/>
            </a:solidFill>
            <a:prstDash val="solid"/>
          </a:ln>
        </p:spPr>
      </p:sp>
      <p:sp>
        <p:nvSpPr>
          <p:cNvPr id="17" name="Text 15"/>
          <p:cNvSpPr/>
          <p:nvPr/>
        </p:nvSpPr>
        <p:spPr>
          <a:xfrm>
            <a:off x="6393180" y="3244850"/>
            <a:ext cx="394970" cy="232410"/>
          </a:xfrm>
          <a:prstGeom prst="roundRect">
            <a:avLst>
              <a:gd name="adj" fmla="val 21858"/>
            </a:avLst>
          </a:prstGeom>
          <a:solidFill>
            <a:srgbClr val="5B6B7C"/>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JetBrains Mono" pitchFamily="49" charset="0"/>
                <a:ea typeface="JetBrains Mono" pitchFamily="49" charset="-122"/>
                <a:cs typeface="JetBrains Mono" pitchFamily="49" charset="-120"/>
              </a:rPr>
              <a:t>F-7</a:t>
            </a:r>
            <a:endParaRPr lang="en-US" sz="950" dirty="0"/>
          </a:p>
        </p:txBody>
      </p:sp>
      <p:sp>
        <p:nvSpPr>
          <p:cNvPr id="18" name="Text 16"/>
          <p:cNvSpPr/>
          <p:nvPr/>
        </p:nvSpPr>
        <p:spPr>
          <a:xfrm>
            <a:off x="6877050" y="3261996"/>
            <a:ext cx="2431352"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3"/>
                </a:solidFill>
                <a:latin typeface="IBM Plex Sans" pitchFamily="34" charset="0"/>
                <a:ea typeface="IBM Plex Sans" pitchFamily="34" charset="-122"/>
                <a:cs typeface="IBM Plex Sans" pitchFamily="34" charset="-120"/>
              </a:rPr>
              <a:t>Minor reconnaissance aids</a:t>
            </a:r>
            <a:endParaRPr lang="en-US" sz="1300" dirty="0"/>
          </a:p>
        </p:txBody>
      </p:sp>
      <p:sp>
        <p:nvSpPr>
          <p:cNvPr id="19" name="Text 17"/>
          <p:cNvSpPr/>
          <p:nvPr/>
        </p:nvSpPr>
        <p:spPr>
          <a:xfrm>
            <a:off x="6393180" y="3566164"/>
            <a:ext cx="4921072" cy="39878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Undocumented query params accepted silently; a misspelled route returns 200/[] instead of 404 — low risk, aids enumeration.</a:t>
            </a:r>
            <a:endParaRPr lang="en-US" sz="1050" dirty="0"/>
          </a:p>
        </p:txBody>
      </p:sp>
      <p:sp>
        <p:nvSpPr>
          <p:cNvPr id="20" name="Text 18"/>
          <p:cNvSpPr/>
          <p:nvPr/>
        </p:nvSpPr>
        <p:spPr>
          <a:xfrm>
            <a:off x="812800" y="6256021"/>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21" name="Text 19"/>
          <p:cNvSpPr/>
          <p:nvPr/>
        </p:nvSpPr>
        <p:spPr>
          <a:xfrm>
            <a:off x="10373360" y="6256021"/>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2098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2F5FCB"/>
                </a:solidFill>
                <a:latin typeface="JetBrains Mono" pitchFamily="49" charset="0"/>
                <a:ea typeface="JetBrains Mono" pitchFamily="49" charset="-122"/>
                <a:cs typeface="JetBrains Mono" pitchFamily="49" charset="-120"/>
              </a:rPr>
              <a:t>RISK &amp; IMPACT SUMMARY</a:t>
            </a:r>
            <a:endParaRPr lang="en-US" sz="1100" dirty="0"/>
          </a:p>
        </p:txBody>
      </p:sp>
      <p:sp>
        <p:nvSpPr>
          <p:cNvPr id="3" name="Text 1"/>
          <p:cNvSpPr/>
          <p:nvPr>
            <p:ph type="title"/>
          </p:nvPr>
        </p:nvSpPr>
        <p:spPr>
          <a:xfrm>
            <a:off x="812800" y="1109979"/>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3"/>
                </a:solidFill>
                <a:latin typeface="IBM Plex Sans" pitchFamily="34" charset="0"/>
                <a:ea typeface="IBM Plex Sans" pitchFamily="34" charset="-122"/>
                <a:cs typeface="IBM Plex Sans" pitchFamily="34" charset="-120"/>
              </a:rPr>
              <a:t>All ten findings, ranked</a:t>
            </a:r>
            <a:endParaRPr lang="en-US" sz="2800" dirty="0"/>
          </a:p>
        </p:txBody>
      </p:sp>
      <p:sp>
        <p:nvSpPr>
          <p:cNvPr id="4" name="Shape 2"/>
          <p:cNvSpPr/>
          <p:nvPr/>
        </p:nvSpPr>
        <p:spPr>
          <a:xfrm>
            <a:off x="812800" y="1722121"/>
            <a:ext cx="10566400" cy="3060700"/>
          </a:xfrm>
          <a:custGeom>
            <a:avLst/>
            <a:gdLst/>
            <a:ahLst/>
            <a:cxnLst/>
            <a:rect l="l" t="t" r="r" b="b"/>
            <a:pathLst>
              <a:path w="10566400" h="3060700">
                <a:moveTo>
                  <a:pt x="10490200" y="0"/>
                </a:moveTo>
                <a:lnTo>
                  <a:pt x="10490200" y="0"/>
                </a:lnTo>
                <a:arcTo hR="76200" wR="76200" stAng="16200000" swAng="5400000"/>
                <a:lnTo>
                  <a:pt x="10566400" y="2984500"/>
                </a:lnTo>
                <a:arcTo hR="76200" wR="76200" stAng="0" swAng="5400000"/>
                <a:lnTo>
                  <a:pt x="76200" y="3060700"/>
                </a:lnTo>
                <a:arcTo hR="76200" wR="76200" stAng="5400000" swAng="5400000"/>
                <a:lnTo>
                  <a:pt x="0" y="2984500"/>
                </a:lnTo>
                <a:arcTo hR="69850" wR="76200" stAng="10800000" swAng="-5400000"/>
                <a:lnTo>
                  <a:pt x="10490200" y="3054350"/>
                </a:lnTo>
                <a:arcTo hR="69850" wR="69850" stAng="5400000" swAng="-5400000"/>
                <a:lnTo>
                  <a:pt x="10560050" y="76200"/>
                </a:lnTo>
                <a:arcTo hR="76200" wR="69850" stAng="0" swAng="-5400000"/>
                <a:close/>
              </a:path>
            </a:pathLst>
          </a:custGeom>
          <a:solidFill>
            <a:srgbClr val="E1E5EA"/>
          </a:solidFill>
          <a:ln/>
        </p:spPr>
      </p:sp>
      <p:sp>
        <p:nvSpPr>
          <p:cNvPr id="5" name="Shape 3"/>
          <p:cNvSpPr/>
          <p:nvPr/>
        </p:nvSpPr>
        <p:spPr>
          <a:xfrm>
            <a:off x="812800" y="1722121"/>
            <a:ext cx="10566400" cy="3060700"/>
          </a:xfrm>
          <a:custGeom>
            <a:avLst/>
            <a:gdLst/>
            <a:ahLst/>
            <a:cxnLst/>
            <a:rect l="l" t="t" r="r" b="b"/>
            <a:pathLst>
              <a:path w="10566400" h="3060700">
                <a:moveTo>
                  <a:pt x="76200" y="3060700"/>
                </a:moveTo>
                <a:lnTo>
                  <a:pt x="76200" y="3060700"/>
                </a:lnTo>
                <a:arcTo hR="76200" wR="76200" stAng="5400000" swAng="5400000"/>
                <a:lnTo>
                  <a:pt x="0" y="76200"/>
                </a:lnTo>
                <a:arcTo hR="76200" wR="76200" stAng="10800000" swAng="5400000"/>
                <a:lnTo>
                  <a:pt x="10490200" y="0"/>
                </a:lnTo>
                <a:arcTo hR="76200" wR="76200" stAng="16200000" swAng="5400000"/>
                <a:lnTo>
                  <a:pt x="10566400" y="76200"/>
                </a:lnTo>
                <a:arcTo hR="66040" wR="76200" stAng="0" swAng="-5400000"/>
                <a:lnTo>
                  <a:pt x="76200" y="10160"/>
                </a:lnTo>
                <a:arcTo hR="66040" wR="66040" stAng="16200000" swAng="-5400000"/>
                <a:lnTo>
                  <a:pt x="10160" y="2984500"/>
                </a:lnTo>
                <a:arcTo hR="76200" wR="6604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732281"/>
          <a:ext cx="10551160" cy="3045460"/>
        </p:xfrm>
        <a:graphic>
          <a:graphicData uri="http://schemas.openxmlformats.org/drawingml/2006/table">
            <a:tbl>
              <a:tblPr/>
              <a:tblGrid>
                <a:gridCol w="949604"/>
                <a:gridCol w="4536999"/>
                <a:gridCol w="2743302"/>
                <a:gridCol w="2321255"/>
              </a:tblGrid>
              <a:tr h="276860">
                <a:tc>
                  <a:txBody>
                    <a:bodyPr/>
                    <a:lstStyle/>
                    <a:p>
                      <a:pPr indent="0" marL="0">
                        <a:lnSpc>
                          <a:spcPts val="1400"/>
                        </a:lnSpc>
                        <a:buNone/>
                      </a:pPr>
                      <a:r>
                        <a:rPr lang="en-US" sz="1000" b="1" dirty="0">
                          <a:solidFill>
                            <a:srgbClr val="FFFFFF"/>
                          </a:solidFill>
                          <a:latin typeface="IBM Plex Sans" pitchFamily="34" charset="0"/>
                          <a:ea typeface="IBM Plex Sans" pitchFamily="34" charset="-122"/>
                          <a:cs typeface="IBM Plex Sans" pitchFamily="34" charset="-120"/>
                        </a:rPr>
                        <a:t>ID</a:t>
                      </a:r>
                      <a:endParaRPr lang="en-US" sz="1000" dirty="0">
                        <a:latin typeface="IBM Plex Sans" charset="0"/>
                        <a:ea typeface="IBM Plex Sans" charset="0"/>
                        <a:cs typeface="IBM Plex Sans" charset="0"/>
                      </a:endParaRPr>
                    </a:p>
                  </a:txBody>
                  <a:tcPr marL="44450" marR="44450" marT="44450" marB="44450" anchor="t">
                    <a:lnL w="0" cap="flat" cmpd="sng" algn="ctr">
                      <a:noFill/>
                    </a:lnL>
                    <a:lnR w="12700" cap="flat" cmpd="sng" algn="ctr">
                      <a:solidFill>
                        <a:srgbClr val="141E2C"/>
                      </a:solidFill>
                      <a:prstDash val="solid"/>
                      <a:round/>
                      <a:headEnd type="none" w="med" len="med"/>
                      <a:tailEnd type="none" w="med" len="med"/>
                    </a:lnR>
                    <a:lnT w="0" cap="flat" cmpd="sng" algn="ctr">
                      <a:noFill/>
                    </a:lnT>
                    <a:lnB w="12700" cap="flat" cmpd="sng" algn="ctr">
                      <a:solidFill>
                        <a:srgbClr val="141E2C"/>
                      </a:solidFill>
                      <a:prstDash val="solid"/>
                      <a:round/>
                      <a:headEnd type="none" w="med" len="med"/>
                      <a:tailEnd type="none" w="med" len="med"/>
                    </a:lnB>
                    <a:solidFill>
                      <a:srgbClr val="142133"/>
                    </a:solidFill>
                  </a:tcPr>
                </a:tc>
                <a:tc>
                  <a:txBody>
                    <a:bodyPr/>
                    <a:lstStyle/>
                    <a:p>
                      <a:pPr indent="0" marL="0">
                        <a:lnSpc>
                          <a:spcPts val="1400"/>
                        </a:lnSpc>
                        <a:buNone/>
                      </a:pPr>
                      <a:r>
                        <a:rPr lang="en-US" sz="1000" b="1" dirty="0">
                          <a:solidFill>
                            <a:srgbClr val="FFFFFF"/>
                          </a:solidFill>
                          <a:latin typeface="IBM Plex Sans" pitchFamily="34" charset="0"/>
                          <a:ea typeface="IBM Plex Sans" pitchFamily="34" charset="-122"/>
                          <a:cs typeface="IBM Plex Sans" pitchFamily="34" charset="-120"/>
                        </a:rPr>
                        <a:t>Finding</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141E2C"/>
                      </a:solidFill>
                      <a:prstDash val="solid"/>
                      <a:round/>
                      <a:headEnd type="none" w="med" len="med"/>
                      <a:tailEnd type="none" w="med" len="med"/>
                    </a:lnL>
                    <a:lnR w="12700" cap="flat" cmpd="sng" algn="ctr">
                      <a:solidFill>
                        <a:srgbClr val="141E2C"/>
                      </a:solidFill>
                      <a:prstDash val="solid"/>
                      <a:round/>
                      <a:headEnd type="none" w="med" len="med"/>
                      <a:tailEnd type="none" w="med" len="med"/>
                    </a:lnR>
                    <a:lnT w="0" cap="flat" cmpd="sng" algn="ctr">
                      <a:noFill/>
                    </a:lnT>
                    <a:lnB w="12700" cap="flat" cmpd="sng" algn="ctr">
                      <a:solidFill>
                        <a:srgbClr val="141E2C"/>
                      </a:solidFill>
                      <a:prstDash val="solid"/>
                      <a:round/>
                      <a:headEnd type="none" w="med" len="med"/>
                      <a:tailEnd type="none" w="med" len="med"/>
                    </a:lnB>
                    <a:solidFill>
                      <a:srgbClr val="142133"/>
                    </a:solidFill>
                  </a:tcPr>
                </a:tc>
                <a:tc>
                  <a:txBody>
                    <a:bodyPr/>
                    <a:lstStyle/>
                    <a:p>
                      <a:pPr indent="0" marL="0">
                        <a:lnSpc>
                          <a:spcPts val="1400"/>
                        </a:lnSpc>
                        <a:buNone/>
                      </a:pPr>
                      <a:r>
                        <a:rPr lang="en-US" sz="1000" b="1" dirty="0">
                          <a:solidFill>
                            <a:srgbClr val="FFFFFF"/>
                          </a:solidFill>
                          <a:latin typeface="IBM Plex Sans" pitchFamily="34" charset="0"/>
                          <a:ea typeface="IBM Plex Sans" pitchFamily="34" charset="-122"/>
                          <a:cs typeface="IBM Plex Sans" pitchFamily="34" charset="-120"/>
                        </a:rPr>
                        <a:t>Impact area</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141E2C"/>
                      </a:solidFill>
                      <a:prstDash val="solid"/>
                      <a:round/>
                      <a:headEnd type="none" w="med" len="med"/>
                      <a:tailEnd type="none" w="med" len="med"/>
                    </a:lnL>
                    <a:lnR w="12700" cap="flat" cmpd="sng" algn="ctr">
                      <a:solidFill>
                        <a:srgbClr val="141E2C"/>
                      </a:solidFill>
                      <a:prstDash val="solid"/>
                      <a:round/>
                      <a:headEnd type="none" w="med" len="med"/>
                      <a:tailEnd type="none" w="med" len="med"/>
                    </a:lnR>
                    <a:lnT w="0" cap="flat" cmpd="sng" algn="ctr">
                      <a:noFill/>
                    </a:lnT>
                    <a:lnB w="12700" cap="flat" cmpd="sng" algn="ctr">
                      <a:solidFill>
                        <a:srgbClr val="141E2C"/>
                      </a:solidFill>
                      <a:prstDash val="solid"/>
                      <a:round/>
                      <a:headEnd type="none" w="med" len="med"/>
                      <a:tailEnd type="none" w="med" len="med"/>
                    </a:lnB>
                    <a:solidFill>
                      <a:srgbClr val="142133"/>
                    </a:solidFill>
                  </a:tcPr>
                </a:tc>
                <a:tc>
                  <a:txBody>
                    <a:bodyPr/>
                    <a:lstStyle/>
                    <a:p>
                      <a:pPr indent="0" marL="0">
                        <a:lnSpc>
                          <a:spcPts val="1400"/>
                        </a:lnSpc>
                        <a:buNone/>
                      </a:pPr>
                      <a:r>
                        <a:rPr lang="en-US" sz="1000" b="1" dirty="0">
                          <a:solidFill>
                            <a:srgbClr val="FFFFFF"/>
                          </a:solidFill>
                          <a:latin typeface="IBM Plex Sans" pitchFamily="34" charset="0"/>
                          <a:ea typeface="IBM Plex Sans" pitchFamily="34" charset="-122"/>
                          <a:cs typeface="IBM Plex Sans" pitchFamily="34" charset="-120"/>
                        </a:rPr>
                        <a:t>Severity</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141E2C"/>
                      </a:solidFill>
                      <a:prstDash val="solid"/>
                      <a:round/>
                      <a:headEnd type="none" w="med" len="med"/>
                      <a:tailEnd type="none" w="med" len="med"/>
                    </a:lnL>
                    <a:lnR w="12700" cap="flat" cmpd="sng" algn="ctr">
                      <a:solidFill>
                        <a:srgbClr val="141E2C"/>
                      </a:solidFill>
                      <a:prstDash val="solid"/>
                      <a:round/>
                      <a:headEnd type="none" w="med" len="med"/>
                      <a:tailEnd type="none" w="med" len="med"/>
                    </a:lnR>
                    <a:lnT w="0" cap="flat" cmpd="sng" algn="ctr">
                      <a:noFill/>
                    </a:lnT>
                    <a:lnB w="12700" cap="flat" cmpd="sng" algn="ctr">
                      <a:solidFill>
                        <a:srgbClr val="141E2C"/>
                      </a:solidFill>
                      <a:prstDash val="solid"/>
                      <a:round/>
                      <a:headEnd type="none" w="med" len="med"/>
                      <a:tailEnd type="none" w="med" len="med"/>
                    </a:lnB>
                    <a:solidFill>
                      <a:srgbClr val="142133"/>
                    </a:solidFill>
                  </a:tcPr>
                </a:tc>
              </a:tr>
              <a:tr h="276860">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F-1</a:t>
                      </a:r>
                      <a:endParaRPr lang="en-US" sz="1000" dirty="0">
                        <a:latin typeface="IBM Plex Sans" charset="0"/>
                        <a:ea typeface="IBM Plex Sans" charset="0"/>
                        <a:cs typeface="IBM Plex Sans" charset="0"/>
                      </a:endParaRPr>
                    </a:p>
                  </a:txBody>
                  <a:tcPr marL="44450" marR="44450" marT="44450" marB="444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41E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Admin configuration exposed to standard user token</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Confidentiality, Authorization</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B2311C"/>
                          </a:solidFill>
                          <a:latin typeface="IBM Plex Sans" pitchFamily="34" charset="0"/>
                          <a:ea typeface="IBM Plex Sans" pitchFamily="34" charset="-122"/>
                          <a:cs typeface="IBM Plex Sans" pitchFamily="34" charset="-120"/>
                        </a:rPr>
                        <a:t>High</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76860">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F-8</a:t>
                      </a:r>
                      <a:endParaRPr lang="en-US" sz="1000" dirty="0">
                        <a:latin typeface="IBM Plex Sans" charset="0"/>
                        <a:ea typeface="IBM Plex Sans" charset="0"/>
                        <a:cs typeface="IBM Plex Sans" charset="0"/>
                      </a:endParaRPr>
                    </a:p>
                  </a:txBody>
                  <a:tcPr marL="44450" marR="44450" marT="44450" marB="44450"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Confirmed IDOR on address endpoint — PII disclosure</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Confidentiality, Authorization, PII</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B2311C"/>
                          </a:solidFill>
                          <a:latin typeface="IBM Plex Sans" pitchFamily="34" charset="0"/>
                          <a:ea typeface="IBM Plex Sans" pitchFamily="34" charset="-122"/>
                          <a:cs typeface="IBM Plex Sans" pitchFamily="34" charset="-120"/>
                        </a:rPr>
                        <a:t>High</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r>
              <a:tr h="276860">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F-2</a:t>
                      </a:r>
                      <a:endParaRPr lang="en-US" sz="1000" dirty="0">
                        <a:latin typeface="IBM Plex Sans" charset="0"/>
                        <a:ea typeface="IBM Plex Sans" charset="0"/>
                        <a:cs typeface="IBM Plex Sans" charset="0"/>
                      </a:endParaRPr>
                    </a:p>
                  </a:txBody>
                  <a:tcPr marL="44450" marR="44450" marT="44450" marB="444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Verbose error discloses Sequelize stack trace</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Confidentiality (recon)</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C98A1B"/>
                          </a:solidFill>
                          <a:latin typeface="IBM Plex Sans" pitchFamily="34" charset="0"/>
                          <a:ea typeface="IBM Plex Sans" pitchFamily="34" charset="-122"/>
                          <a:cs typeface="IBM Plex Sans" pitchFamily="34" charset="-120"/>
                        </a:rPr>
                        <a:t>Medium</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76860">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F-10</a:t>
                      </a:r>
                      <a:endParaRPr lang="en-US" sz="1000" dirty="0">
                        <a:latin typeface="IBM Plex Sans" charset="0"/>
                        <a:ea typeface="IBM Plex Sans" charset="0"/>
                        <a:cs typeface="IBM Plex Sans" charset="0"/>
                      </a:endParaRPr>
                    </a:p>
                  </a:txBody>
                  <a:tcPr marL="44450" marR="44450" marT="44450" marB="44450"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Second stack-trace disclosure (malformed basket path)</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Confidentiality (recon)</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C98A1B"/>
                          </a:solidFill>
                          <a:latin typeface="IBM Plex Sans" pitchFamily="34" charset="0"/>
                          <a:ea typeface="IBM Plex Sans" pitchFamily="34" charset="-122"/>
                          <a:cs typeface="IBM Plex Sans" pitchFamily="34" charset="-120"/>
                        </a:rPr>
                        <a:t>Medium</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r>
              <a:tr h="276860">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F-3</a:t>
                      </a:r>
                      <a:endParaRPr lang="en-US" sz="1000" dirty="0">
                        <a:latin typeface="IBM Plex Sans" charset="0"/>
                        <a:ea typeface="IBM Plex Sans" charset="0"/>
                        <a:cs typeface="IBM Plex Sans" charset="0"/>
                      </a:endParaRPr>
                    </a:p>
                  </a:txBody>
                  <a:tcPr marL="44450" marR="44450" marT="44450" marB="444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Empty search returns full catalog; unescaped HTML</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Confidentiality, potential XSS</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C98A1B"/>
                          </a:solidFill>
                          <a:latin typeface="IBM Plex Sans" pitchFamily="34" charset="0"/>
                          <a:ea typeface="IBM Plex Sans" pitchFamily="34" charset="-122"/>
                          <a:cs typeface="IBM Plex Sans" pitchFamily="34" charset="-120"/>
                        </a:rPr>
                        <a:t>Medium</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76860">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F-6</a:t>
                      </a:r>
                      <a:endParaRPr lang="en-US" sz="1000" dirty="0">
                        <a:latin typeface="IBM Plex Sans" charset="0"/>
                        <a:ea typeface="IBM Plex Sans" charset="0"/>
                        <a:cs typeface="IBM Plex Sans" charset="0"/>
                      </a:endParaRPr>
                    </a:p>
                  </a:txBody>
                  <a:tcPr marL="44450" marR="44450" marT="44450" marB="44450"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Basket object-level access (IDOR)</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Confidentiality, Authorization</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6E4A9E"/>
                          </a:solidFill>
                          <a:latin typeface="IBM Plex Sans" pitchFamily="34" charset="0"/>
                          <a:ea typeface="IBM Plex Sans" pitchFamily="34" charset="-122"/>
                          <a:cs typeface="IBM Plex Sans" pitchFamily="34" charset="-120"/>
                        </a:rPr>
                        <a:t>Inconclusive</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r>
              <a:tr h="276860">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F-7</a:t>
                      </a:r>
                      <a:endParaRPr lang="en-US" sz="1000" dirty="0">
                        <a:latin typeface="IBM Plex Sans" charset="0"/>
                        <a:ea typeface="IBM Plex Sans" charset="0"/>
                        <a:cs typeface="IBM Plex Sans" charset="0"/>
                      </a:endParaRPr>
                    </a:p>
                  </a:txBody>
                  <a:tcPr marL="44450" marR="44450" marT="44450" marB="444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Unvalidated param; non-404 on misspelled route</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Reconnaissance aid</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4C7A3A"/>
                          </a:solidFill>
                          <a:latin typeface="IBM Plex Sans" pitchFamily="34" charset="0"/>
                          <a:ea typeface="IBM Plex Sans" pitchFamily="34" charset="-122"/>
                          <a:cs typeface="IBM Plex Sans" pitchFamily="34" charset="-120"/>
                        </a:rPr>
                        <a:t>Low</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76860">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F-9</a:t>
                      </a:r>
                      <a:endParaRPr lang="en-US" sz="1000" dirty="0">
                        <a:latin typeface="IBM Plex Sans" charset="0"/>
                        <a:ea typeface="IBM Plex Sans" charset="0"/>
                        <a:cs typeface="IBM Plex Sans" charset="0"/>
                      </a:endParaRPr>
                    </a:p>
                  </a:txBody>
                  <a:tcPr marL="44450" marR="44450" marT="44450" marB="44450"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Inconsistent anomaly-detection route coverage</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Authorization (false coverage)</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5B6B7C"/>
                          </a:solidFill>
                          <a:latin typeface="IBM Plex Sans" pitchFamily="34" charset="0"/>
                          <a:ea typeface="IBM Plex Sans" pitchFamily="34" charset="-122"/>
                          <a:cs typeface="IBM Plex Sans" pitchFamily="34" charset="-120"/>
                        </a:rPr>
                        <a:t>Informational</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r>
              <a:tr h="276860">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F-4</a:t>
                      </a:r>
                      <a:endParaRPr lang="en-US" sz="1000" dirty="0">
                        <a:latin typeface="IBM Plex Sans" charset="0"/>
                        <a:ea typeface="IBM Plex Sans" charset="0"/>
                        <a:cs typeface="IBM Plex Sans" charset="0"/>
                      </a:endParaRPr>
                    </a:p>
                  </a:txBody>
                  <a:tcPr marL="44450" marR="44450" marT="44450" marB="444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Authorization header enforced on basket</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 positive control</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400"/>
                        </a:lnSpc>
                        <a:buNone/>
                      </a:pPr>
                      <a:r>
                        <a:rPr lang="en-US" sz="1000" dirty="0">
                          <a:solidFill>
                            <a:srgbClr val="5B6B7C"/>
                          </a:solidFill>
                          <a:latin typeface="IBM Plex Sans" pitchFamily="34" charset="0"/>
                          <a:ea typeface="IBM Plex Sans" pitchFamily="34" charset="-122"/>
                          <a:cs typeface="IBM Plex Sans" pitchFamily="34" charset="-120"/>
                        </a:rPr>
                        <a:t>Informational</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76860">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F-5</a:t>
                      </a:r>
                      <a:endParaRPr lang="en-US" sz="1000" dirty="0">
                        <a:latin typeface="IBM Plex Sans" charset="0"/>
                        <a:ea typeface="IBM Plex Sans" charset="0"/>
                        <a:cs typeface="IBM Plex Sans" charset="0"/>
                      </a:endParaRPr>
                    </a:p>
                  </a:txBody>
                  <a:tcPr marL="44450" marR="44450" marT="44450" marB="44450" anchor="t">
                    <a:lnL w="0" cap="flat" cmpd="sng" algn="ctr">
                      <a:noFill/>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SQLi probe (') handled safely</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2B3647"/>
                          </a:solidFill>
                          <a:latin typeface="IBM Plex Sans" pitchFamily="34" charset="0"/>
                          <a:ea typeface="IBM Plex Sans" pitchFamily="34" charset="-122"/>
                          <a:cs typeface="IBM Plex Sans" pitchFamily="34" charset="-120"/>
                        </a:rPr>
                        <a:t>— positive control</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c>
                  <a:txBody>
                    <a:bodyPr/>
                    <a:lstStyle/>
                    <a:p>
                      <a:pPr indent="0" marL="0">
                        <a:lnSpc>
                          <a:spcPts val="1400"/>
                        </a:lnSpc>
                        <a:buNone/>
                      </a:pPr>
                      <a:r>
                        <a:rPr lang="en-US" sz="1000" dirty="0">
                          <a:solidFill>
                            <a:srgbClr val="5B6B7C"/>
                          </a:solidFill>
                          <a:latin typeface="IBM Plex Sans" pitchFamily="34" charset="0"/>
                          <a:ea typeface="IBM Plex Sans" pitchFamily="34" charset="-122"/>
                          <a:cs typeface="IBM Plex Sans" pitchFamily="34" charset="-120"/>
                        </a:rPr>
                        <a:t>Informational</a:t>
                      </a:r>
                      <a:endParaRPr lang="en-US" sz="1000" dirty="0">
                        <a:latin typeface="IBM Plex Sans" charset="0"/>
                        <a:ea typeface="IBM Plex Sans" charset="0"/>
                        <a:cs typeface="IBM Plex Sans" charset="0"/>
                      </a:endParaRPr>
                    </a:p>
                  </a:txBody>
                  <a:tcPr marL="44450" marR="44450" marT="44450" marB="44450" anchor="t">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6C4"/>
                      </a:solidFill>
                      <a:prstDash val="solid"/>
                      <a:round/>
                      <a:headEnd type="none" w="med" len="med"/>
                      <a:tailEnd type="none" w="med" len="med"/>
                    </a:lnB>
                    <a:solidFill>
                      <a:srgbClr val="F7F8F6"/>
                    </a:solidFill>
                  </a:tcPr>
                </a:tc>
              </a:tr>
            </a:tbl>
          </a:graphicData>
        </a:graphic>
      </p:graphicFrame>
      <p:sp>
        <p:nvSpPr>
          <p:cNvPr id="7" name="Text 4"/>
          <p:cNvSpPr/>
          <p:nvPr/>
        </p:nvSpPr>
        <p:spPr>
          <a:xfrm>
            <a:off x="812800" y="4986021"/>
            <a:ext cx="10883392"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1607A"/>
                </a:solidFill>
                <a:latin typeface="IBM Plex Sans" pitchFamily="34" charset="0"/>
                <a:ea typeface="IBM Plex Sans" pitchFamily="34" charset="-122"/>
                <a:cs typeface="IBM Plex Sans" pitchFamily="34" charset="-120"/>
              </a:rPr>
              <a:t>No Critical-severity finding was confirmed. F-1 and F-8 are rated High: both expose sensitive data to a non-privileged or cross-account session.</a:t>
            </a:r>
            <a:endParaRPr lang="en-US" sz="1000" dirty="0"/>
          </a:p>
        </p:txBody>
      </p:sp>
      <p:sp>
        <p:nvSpPr>
          <p:cNvPr id="8" name="Text 5"/>
          <p:cNvSpPr/>
          <p:nvPr/>
        </p:nvSpPr>
        <p:spPr>
          <a:xfrm>
            <a:off x="812800" y="6256021"/>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9" name="Text 6"/>
          <p:cNvSpPr/>
          <p:nvPr/>
        </p:nvSpPr>
        <p:spPr>
          <a:xfrm>
            <a:off x="10373360" y="6256021"/>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20980"/>
          </a:xfrm>
          <a:prstGeom prst="rect">
            <a:avLst/>
          </a:prstGeom>
          <a:noFill/>
          <a:ln/>
        </p:spPr>
        <p:txBody>
          <a:bodyPr wrap="square" lIns="0" tIns="0" rIns="0" bIns="0" rtlCol="0" anchor="t">
            <a:normAutofit/>
          </a:bodyPr>
          <a:lstStyle/>
          <a:p>
            <a:pPr algn="l" indent="0" marL="0">
              <a:lnSpc>
                <a:spcPts val="1540"/>
              </a:lnSpc>
              <a:buNone/>
            </a:pPr>
            <a:r>
              <a:rPr lang="en-US" sz="1100" spc="100" kern="0" dirty="0">
                <a:solidFill>
                  <a:srgbClr val="2F5FCB"/>
                </a:solidFill>
                <a:latin typeface="JetBrains Mono" pitchFamily="49" charset="0"/>
                <a:ea typeface="JetBrains Mono" pitchFamily="49" charset="-122"/>
                <a:cs typeface="JetBrains Mono" pitchFamily="49" charset="-120"/>
              </a:rPr>
              <a:t>REMEDIATION ROADMAP</a:t>
            </a:r>
            <a:endParaRPr lang="en-US" sz="1100" dirty="0"/>
          </a:p>
        </p:txBody>
      </p:sp>
      <p:sp>
        <p:nvSpPr>
          <p:cNvPr id="3" name="Text 1"/>
          <p:cNvSpPr/>
          <p:nvPr>
            <p:ph type="title"/>
          </p:nvPr>
        </p:nvSpPr>
        <p:spPr>
          <a:xfrm>
            <a:off x="812800" y="1109979"/>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3"/>
                </a:solidFill>
                <a:latin typeface="IBM Plex Sans" pitchFamily="34" charset="0"/>
                <a:ea typeface="IBM Plex Sans" pitchFamily="34" charset="-122"/>
                <a:cs typeface="IBM Plex Sans" pitchFamily="34" charset="-120"/>
              </a:rPr>
              <a:t>Fix in this order</a:t>
            </a:r>
            <a:endParaRPr lang="en-US" sz="2800" dirty="0"/>
          </a:p>
        </p:txBody>
      </p:sp>
      <p:sp>
        <p:nvSpPr>
          <p:cNvPr id="4" name="Shape 2"/>
          <p:cNvSpPr/>
          <p:nvPr/>
        </p:nvSpPr>
        <p:spPr>
          <a:xfrm>
            <a:off x="812800" y="1747521"/>
            <a:ext cx="10566400" cy="786130"/>
          </a:xfrm>
          <a:prstGeom prst="roundRect">
            <a:avLst>
              <a:gd name="adj" fmla="val 12924"/>
            </a:avLst>
          </a:prstGeom>
          <a:solidFill>
            <a:srgbClr val="FFFFFF"/>
          </a:solidFill>
          <a:ln/>
        </p:spPr>
      </p:sp>
      <p:sp>
        <p:nvSpPr>
          <p:cNvPr id="5" name="Shape 3"/>
          <p:cNvSpPr/>
          <p:nvPr/>
        </p:nvSpPr>
        <p:spPr>
          <a:xfrm>
            <a:off x="812800" y="1747521"/>
            <a:ext cx="10566400" cy="786130"/>
          </a:xfrm>
          <a:custGeom>
            <a:avLst/>
            <a:gdLst/>
            <a:ahLst/>
            <a:cxnLst/>
            <a:rect l="l" t="t" r="r" b="b"/>
            <a:pathLst>
              <a:path w="10566400" h="786130">
                <a:moveTo>
                  <a:pt x="101600" y="786130"/>
                </a:moveTo>
                <a:lnTo>
                  <a:pt x="101600" y="786130"/>
                </a:lnTo>
                <a:arcTo hR="101600" wR="101600" stAng="5400000" swAng="5400000"/>
                <a:lnTo>
                  <a:pt x="0" y="101600"/>
                </a:lnTo>
                <a:arcTo hR="101600" wR="101600" stAng="10800000" swAng="5400000"/>
                <a:lnTo>
                  <a:pt x="101600" y="0"/>
                </a:lnTo>
                <a:arcTo hR="101600" wR="50800" stAng="16200000" swAng="-5400000"/>
                <a:lnTo>
                  <a:pt x="50800" y="684530"/>
                </a:lnTo>
                <a:arcTo hR="101600" wR="50800" stAng="10800000" swAng="-5400000"/>
                <a:close/>
              </a:path>
            </a:pathLst>
          </a:custGeom>
          <a:solidFill>
            <a:srgbClr val="B2311C"/>
          </a:solidFill>
          <a:ln/>
        </p:spPr>
      </p:sp>
      <p:sp>
        <p:nvSpPr>
          <p:cNvPr id="6" name="Text 4"/>
          <p:cNvSpPr/>
          <p:nvPr/>
        </p:nvSpPr>
        <p:spPr>
          <a:xfrm>
            <a:off x="1066800" y="1925321"/>
            <a:ext cx="195580"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B2311C"/>
                </a:solidFill>
                <a:latin typeface="JetBrains Mono" pitchFamily="49" charset="0"/>
                <a:ea typeface="JetBrains Mono" pitchFamily="49" charset="-122"/>
                <a:cs typeface="JetBrains Mono" pitchFamily="49" charset="-120"/>
              </a:rPr>
              <a:t>1</a:t>
            </a:r>
            <a:endParaRPr lang="en-US" sz="1900" dirty="0"/>
          </a:p>
        </p:txBody>
      </p:sp>
      <p:sp>
        <p:nvSpPr>
          <p:cNvPr id="7" name="Text 5"/>
          <p:cNvSpPr/>
          <p:nvPr/>
        </p:nvSpPr>
        <p:spPr>
          <a:xfrm>
            <a:off x="1389380" y="1925321"/>
            <a:ext cx="9116803"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42133"/>
                </a:solidFill>
                <a:latin typeface="IBM Plex Sans" pitchFamily="34" charset="0"/>
                <a:ea typeface="IBM Plex Sans" pitchFamily="34" charset="-122"/>
                <a:cs typeface="IBM Plex Sans" pitchFamily="34" charset="-120"/>
              </a:rPr>
              <a:t>F-8 — Add ownership checks to the address endpoint, retest F-6</a:t>
            </a:r>
            <a:endParaRPr lang="en-US" sz="1350" dirty="0"/>
          </a:p>
        </p:txBody>
      </p:sp>
      <p:sp>
        <p:nvSpPr>
          <p:cNvPr id="8" name="Text 6"/>
          <p:cNvSpPr/>
          <p:nvPr/>
        </p:nvSpPr>
        <p:spPr>
          <a:xfrm>
            <a:off x="1389380" y="2169164"/>
            <a:ext cx="9989820"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Verify record.UserId matches the authenticated session on every object-by-ID request; immediately replay F-6 with the same fixed-token technique.</a:t>
            </a:r>
            <a:endParaRPr lang="en-US" sz="1050" dirty="0"/>
          </a:p>
        </p:txBody>
      </p:sp>
      <p:sp>
        <p:nvSpPr>
          <p:cNvPr id="9" name="Shape 7"/>
          <p:cNvSpPr/>
          <p:nvPr/>
        </p:nvSpPr>
        <p:spPr>
          <a:xfrm>
            <a:off x="812800" y="2647950"/>
            <a:ext cx="10566400" cy="786130"/>
          </a:xfrm>
          <a:prstGeom prst="roundRect">
            <a:avLst>
              <a:gd name="adj" fmla="val 12924"/>
            </a:avLst>
          </a:prstGeom>
          <a:solidFill>
            <a:srgbClr val="FFFFFF"/>
          </a:solidFill>
          <a:ln/>
        </p:spPr>
      </p:sp>
      <p:sp>
        <p:nvSpPr>
          <p:cNvPr id="10" name="Shape 8"/>
          <p:cNvSpPr/>
          <p:nvPr/>
        </p:nvSpPr>
        <p:spPr>
          <a:xfrm>
            <a:off x="812800" y="2647950"/>
            <a:ext cx="10566400" cy="786130"/>
          </a:xfrm>
          <a:custGeom>
            <a:avLst/>
            <a:gdLst/>
            <a:ahLst/>
            <a:cxnLst/>
            <a:rect l="l" t="t" r="r" b="b"/>
            <a:pathLst>
              <a:path w="10566400" h="786130">
                <a:moveTo>
                  <a:pt x="101600" y="786130"/>
                </a:moveTo>
                <a:lnTo>
                  <a:pt x="101600" y="786130"/>
                </a:lnTo>
                <a:arcTo hR="101600" wR="101600" stAng="5400000" swAng="5400000"/>
                <a:lnTo>
                  <a:pt x="0" y="101600"/>
                </a:lnTo>
                <a:arcTo hR="101600" wR="101600" stAng="10800000" swAng="5400000"/>
                <a:lnTo>
                  <a:pt x="101600" y="0"/>
                </a:lnTo>
                <a:arcTo hR="101600" wR="50800" stAng="16200000" swAng="-5400000"/>
                <a:lnTo>
                  <a:pt x="50800" y="684530"/>
                </a:lnTo>
                <a:arcTo hR="101600" wR="50800" stAng="10800000" swAng="-5400000"/>
                <a:close/>
              </a:path>
            </a:pathLst>
          </a:custGeom>
          <a:solidFill>
            <a:srgbClr val="B2311C"/>
          </a:solidFill>
          <a:ln/>
        </p:spPr>
      </p:sp>
      <p:sp>
        <p:nvSpPr>
          <p:cNvPr id="11" name="Text 9"/>
          <p:cNvSpPr/>
          <p:nvPr/>
        </p:nvSpPr>
        <p:spPr>
          <a:xfrm>
            <a:off x="1066800" y="2825750"/>
            <a:ext cx="195580"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B2311C"/>
                </a:solidFill>
                <a:latin typeface="JetBrains Mono" pitchFamily="49" charset="0"/>
                <a:ea typeface="JetBrains Mono" pitchFamily="49" charset="-122"/>
                <a:cs typeface="JetBrains Mono" pitchFamily="49" charset="-120"/>
              </a:rPr>
              <a:t>2</a:t>
            </a:r>
            <a:endParaRPr lang="en-US" sz="1900" dirty="0"/>
          </a:p>
        </p:txBody>
      </p:sp>
      <p:sp>
        <p:nvSpPr>
          <p:cNvPr id="12" name="Text 10"/>
          <p:cNvSpPr/>
          <p:nvPr/>
        </p:nvSpPr>
        <p:spPr>
          <a:xfrm>
            <a:off x="1389380" y="2825750"/>
            <a:ext cx="6817409"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42133"/>
                </a:solidFill>
                <a:latin typeface="IBM Plex Sans" pitchFamily="34" charset="0"/>
                <a:ea typeface="IBM Plex Sans" pitchFamily="34" charset="-122"/>
                <a:cs typeface="IBM Plex Sans" pitchFamily="34" charset="-120"/>
              </a:rPr>
              <a:t>F-1 — Enforce role checks on admin-scoped routes</a:t>
            </a:r>
            <a:endParaRPr lang="en-US" sz="1350" dirty="0"/>
          </a:p>
        </p:txBody>
      </p:sp>
      <p:sp>
        <p:nvSpPr>
          <p:cNvPr id="13" name="Text 11"/>
          <p:cNvSpPr/>
          <p:nvPr/>
        </p:nvSpPr>
        <p:spPr>
          <a:xfrm>
            <a:off x="1389380" y="3069592"/>
            <a:ext cx="7942612"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Add isAdmin checks on every /admin/* route; return generic 403 for non-privileged callers; audit sibling routes.</a:t>
            </a:r>
            <a:endParaRPr lang="en-US" sz="1050" dirty="0"/>
          </a:p>
        </p:txBody>
      </p:sp>
      <p:sp>
        <p:nvSpPr>
          <p:cNvPr id="14" name="Shape 12"/>
          <p:cNvSpPr/>
          <p:nvPr/>
        </p:nvSpPr>
        <p:spPr>
          <a:xfrm>
            <a:off x="812800" y="3548379"/>
            <a:ext cx="10566400" cy="786130"/>
          </a:xfrm>
          <a:prstGeom prst="roundRect">
            <a:avLst>
              <a:gd name="adj" fmla="val 12924"/>
            </a:avLst>
          </a:prstGeom>
          <a:solidFill>
            <a:srgbClr val="FFFFFF"/>
          </a:solidFill>
          <a:ln/>
        </p:spPr>
      </p:sp>
      <p:sp>
        <p:nvSpPr>
          <p:cNvPr id="15" name="Shape 13"/>
          <p:cNvSpPr/>
          <p:nvPr/>
        </p:nvSpPr>
        <p:spPr>
          <a:xfrm>
            <a:off x="812800" y="3548379"/>
            <a:ext cx="10566400" cy="786130"/>
          </a:xfrm>
          <a:custGeom>
            <a:avLst/>
            <a:gdLst/>
            <a:ahLst/>
            <a:cxnLst/>
            <a:rect l="l" t="t" r="r" b="b"/>
            <a:pathLst>
              <a:path w="10566400" h="786130">
                <a:moveTo>
                  <a:pt x="101600" y="786130"/>
                </a:moveTo>
                <a:lnTo>
                  <a:pt x="101600" y="786130"/>
                </a:lnTo>
                <a:arcTo hR="101600" wR="101600" stAng="5400000" swAng="5400000"/>
                <a:lnTo>
                  <a:pt x="0" y="101600"/>
                </a:lnTo>
                <a:arcTo hR="101600" wR="101600" stAng="10800000" swAng="5400000"/>
                <a:lnTo>
                  <a:pt x="101600" y="0"/>
                </a:lnTo>
                <a:arcTo hR="101600" wR="50800" stAng="16200000" swAng="-5400000"/>
                <a:lnTo>
                  <a:pt x="50800" y="684530"/>
                </a:lnTo>
                <a:arcTo hR="101600" wR="50800" stAng="10800000" swAng="-5400000"/>
                <a:close/>
              </a:path>
            </a:pathLst>
          </a:custGeom>
          <a:solidFill>
            <a:srgbClr val="C98A1B"/>
          </a:solidFill>
          <a:ln/>
        </p:spPr>
      </p:sp>
      <p:sp>
        <p:nvSpPr>
          <p:cNvPr id="16" name="Text 14"/>
          <p:cNvSpPr/>
          <p:nvPr/>
        </p:nvSpPr>
        <p:spPr>
          <a:xfrm>
            <a:off x="1066800" y="3726179"/>
            <a:ext cx="195580"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C98A1B"/>
                </a:solidFill>
                <a:latin typeface="JetBrains Mono" pitchFamily="49" charset="0"/>
                <a:ea typeface="JetBrains Mono" pitchFamily="49" charset="-122"/>
                <a:cs typeface="JetBrains Mono" pitchFamily="49" charset="-120"/>
              </a:rPr>
              <a:t>3</a:t>
            </a:r>
            <a:endParaRPr lang="en-US" sz="1900" dirty="0"/>
          </a:p>
        </p:txBody>
      </p:sp>
      <p:sp>
        <p:nvSpPr>
          <p:cNvPr id="17" name="Text 15"/>
          <p:cNvSpPr/>
          <p:nvPr/>
        </p:nvSpPr>
        <p:spPr>
          <a:xfrm>
            <a:off x="1389380" y="3726179"/>
            <a:ext cx="7192425"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42133"/>
                </a:solidFill>
                <a:latin typeface="IBM Plex Sans" pitchFamily="34" charset="0"/>
                <a:ea typeface="IBM Plex Sans" pitchFamily="34" charset="-122"/>
                <a:cs typeface="IBM Plex Sans" pitchFamily="34" charset="-120"/>
              </a:rPr>
              <a:t>F-2 / F-10 — Centralize error handling</a:t>
            </a:r>
            <a:endParaRPr lang="en-US" sz="1350" dirty="0"/>
          </a:p>
        </p:txBody>
      </p:sp>
      <p:sp>
        <p:nvSpPr>
          <p:cNvPr id="18" name="Text 16"/>
          <p:cNvSpPr/>
          <p:nvPr/>
        </p:nvSpPr>
        <p:spPr>
          <a:xfrm>
            <a:off x="1389380" y="3970021"/>
            <a:ext cx="8379524"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Catch ORM and routing exceptions explicitly; disable stack traces for untrusted clients; log full detail server-side only.</a:t>
            </a:r>
            <a:endParaRPr lang="en-US" sz="1050" dirty="0"/>
          </a:p>
        </p:txBody>
      </p:sp>
      <p:sp>
        <p:nvSpPr>
          <p:cNvPr id="19" name="Shape 17"/>
          <p:cNvSpPr/>
          <p:nvPr/>
        </p:nvSpPr>
        <p:spPr>
          <a:xfrm>
            <a:off x="812800" y="4448814"/>
            <a:ext cx="10566400" cy="786130"/>
          </a:xfrm>
          <a:prstGeom prst="roundRect">
            <a:avLst>
              <a:gd name="adj" fmla="val 12924"/>
            </a:avLst>
          </a:prstGeom>
          <a:solidFill>
            <a:srgbClr val="FFFFFF"/>
          </a:solidFill>
          <a:ln/>
        </p:spPr>
      </p:sp>
      <p:sp>
        <p:nvSpPr>
          <p:cNvPr id="20" name="Shape 18"/>
          <p:cNvSpPr/>
          <p:nvPr/>
        </p:nvSpPr>
        <p:spPr>
          <a:xfrm>
            <a:off x="812800" y="4448814"/>
            <a:ext cx="10566400" cy="786130"/>
          </a:xfrm>
          <a:custGeom>
            <a:avLst/>
            <a:gdLst/>
            <a:ahLst/>
            <a:cxnLst/>
            <a:rect l="l" t="t" r="r" b="b"/>
            <a:pathLst>
              <a:path w="10566400" h="786130">
                <a:moveTo>
                  <a:pt x="101600" y="786130"/>
                </a:moveTo>
                <a:lnTo>
                  <a:pt x="101600" y="786130"/>
                </a:lnTo>
                <a:arcTo hR="101600" wR="101600" stAng="5400000" swAng="5400000"/>
                <a:lnTo>
                  <a:pt x="0" y="101600"/>
                </a:lnTo>
                <a:arcTo hR="101600" wR="101600" stAng="10800000" swAng="5400000"/>
                <a:lnTo>
                  <a:pt x="101600" y="0"/>
                </a:lnTo>
                <a:arcTo hR="101600" wR="50800" stAng="16200000" swAng="-5400000"/>
                <a:lnTo>
                  <a:pt x="50800" y="684530"/>
                </a:lnTo>
                <a:arcTo hR="101600" wR="50800" stAng="10800000" swAng="-5400000"/>
                <a:close/>
              </a:path>
            </a:pathLst>
          </a:custGeom>
          <a:solidFill>
            <a:srgbClr val="5B6B7C"/>
          </a:solidFill>
          <a:ln/>
        </p:spPr>
      </p:sp>
      <p:sp>
        <p:nvSpPr>
          <p:cNvPr id="21" name="Text 19"/>
          <p:cNvSpPr/>
          <p:nvPr/>
        </p:nvSpPr>
        <p:spPr>
          <a:xfrm>
            <a:off x="1066800" y="4626614"/>
            <a:ext cx="195580" cy="36322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5B6B7C"/>
                </a:solidFill>
                <a:latin typeface="JetBrains Mono" pitchFamily="49" charset="0"/>
                <a:ea typeface="JetBrains Mono" pitchFamily="49" charset="-122"/>
                <a:cs typeface="JetBrains Mono" pitchFamily="49" charset="-120"/>
              </a:rPr>
              <a:t>4</a:t>
            </a:r>
            <a:endParaRPr lang="en-US" sz="1900" dirty="0"/>
          </a:p>
        </p:txBody>
      </p:sp>
      <p:sp>
        <p:nvSpPr>
          <p:cNvPr id="22" name="Text 20"/>
          <p:cNvSpPr/>
          <p:nvPr/>
        </p:nvSpPr>
        <p:spPr>
          <a:xfrm>
            <a:off x="1389380" y="4626614"/>
            <a:ext cx="8575822" cy="231140"/>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42133"/>
                </a:solidFill>
                <a:latin typeface="IBM Plex Sans" pitchFamily="34" charset="0"/>
                <a:ea typeface="IBM Plex Sans" pitchFamily="34" charset="-122"/>
                <a:cs typeface="IBM Plex Sans" pitchFamily="34" charset="-120"/>
              </a:rPr>
              <a:t>F-3, F-9 &amp; defense-in-depth</a:t>
            </a:r>
            <a:endParaRPr lang="en-US" sz="1350" dirty="0"/>
          </a:p>
        </p:txBody>
      </p:sp>
      <p:sp>
        <p:nvSpPr>
          <p:cNvPr id="23" name="Text 21"/>
          <p:cNvSpPr/>
          <p:nvPr/>
        </p:nvSpPr>
        <p:spPr>
          <a:xfrm>
            <a:off x="1389380" y="4870450"/>
            <a:ext cx="9989820"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1607A"/>
                </a:solidFill>
                <a:latin typeface="IBM Plex Sans" pitchFamily="34" charset="0"/>
                <a:ea typeface="IBM Plex Sans" pitchFamily="34" charset="-122"/>
                <a:cs typeface="IBM Plex Sans" pitchFamily="34" charset="-120"/>
              </a:rPr>
              <a:t>Bound empty search results, sanitize stored HTML, consolidate duplicate route handlers, and add automated authorization regression tests.</a:t>
            </a:r>
            <a:endParaRPr lang="en-US" sz="1050" dirty="0"/>
          </a:p>
        </p:txBody>
      </p:sp>
      <p:sp>
        <p:nvSpPr>
          <p:cNvPr id="24" name="Text 22"/>
          <p:cNvSpPr/>
          <p:nvPr/>
        </p:nvSpPr>
        <p:spPr>
          <a:xfrm>
            <a:off x="812800" y="6256021"/>
            <a:ext cx="321868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Advanced VAPT — OWASP Juice Shop</a:t>
            </a:r>
            <a:endParaRPr lang="en-US" sz="1100" dirty="0"/>
          </a:p>
        </p:txBody>
      </p:sp>
      <p:sp>
        <p:nvSpPr>
          <p:cNvPr id="25" name="Text 23"/>
          <p:cNvSpPr/>
          <p:nvPr/>
        </p:nvSpPr>
        <p:spPr>
          <a:xfrm>
            <a:off x="10373360" y="6256021"/>
            <a:ext cx="120700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9AA4B2"/>
                </a:solidFill>
                <a:latin typeface="JetBrains Mono" pitchFamily="49" charset="0"/>
                <a:ea typeface="JetBrains Mono" pitchFamily="49" charset="-122"/>
                <a:cs typeface="JetBrains Mono" pitchFamily="49" charset="-120"/>
              </a:rPr>
              <a:t>CONFIDENTIAL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52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C1526"/>
              </a:gs>
              <a:gs pos="55000">
                <a:srgbClr val="121E35"/>
              </a:gs>
              <a:gs pos="100000">
                <a:srgbClr val="0C1526"/>
              </a:gs>
            </a:gsLst>
            <a:lin ang="3300000" scaled="0"/>
          </a:gra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FA0FF"/>
                </a:solidFill>
                <a:latin typeface="JetBrains Mono" pitchFamily="49" charset="0"/>
                <a:ea typeface="JetBrains Mono" pitchFamily="49" charset="-122"/>
                <a:cs typeface="JetBrains Mono" pitchFamily="49" charset="-120"/>
              </a:rPr>
              <a:t>CONCLUSION</a:t>
            </a:r>
            <a:endParaRPr lang="en-US" sz="1200" dirty="0"/>
          </a:p>
        </p:txBody>
      </p:sp>
      <p:sp>
        <p:nvSpPr>
          <p:cNvPr id="4" name="Text 2"/>
          <p:cNvSpPr/>
          <p:nvPr>
            <p:ph type="title"/>
          </p:nvPr>
        </p:nvSpPr>
        <p:spPr>
          <a:xfrm>
            <a:off x="812800" y="1203964"/>
            <a:ext cx="981075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5F8"/>
                </a:solidFill>
                <a:latin typeface="IBM Plex Sans" pitchFamily="34" charset="0"/>
                <a:ea typeface="IBM Plex Sans" pitchFamily="34" charset="-122"/>
                <a:cs typeface="IBM Plex Sans" pitchFamily="34" charset="-120"/>
              </a:rPr>
              <a:t>Two High-severity Broken Access Control issues, one shared fix pattern</a:t>
            </a:r>
            <a:endParaRPr lang="en-US" sz="3600" dirty="0"/>
          </a:p>
        </p:txBody>
      </p:sp>
      <p:sp>
        <p:nvSpPr>
          <p:cNvPr id="5" name="Text 3"/>
          <p:cNvSpPr/>
          <p:nvPr/>
        </p:nvSpPr>
        <p:spPr>
          <a:xfrm>
            <a:off x="812800" y="2387600"/>
            <a:ext cx="9483725"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AFC0DA"/>
                </a:solidFill>
                <a:latin typeface="IBM Plex Sans" pitchFamily="34" charset="0"/>
                <a:ea typeface="IBM Plex Sans" pitchFamily="34" charset="-122"/>
                <a:cs typeface="IBM Plex Sans" pitchFamily="34" charset="-120"/>
              </a:rPr>
              <a:t>F-1 and F-8 both stem from the server trusting a token's presence instead of verifying who it belongs to. Fixing object- and role-level authorization closes the highest-risk path; the same gap likely extends to the still-open basket IDOR (F-6).</a:t>
            </a:r>
            <a:endParaRPr lang="en-US" sz="1400" dirty="0"/>
          </a:p>
        </p:txBody>
      </p:sp>
      <p:sp>
        <p:nvSpPr>
          <p:cNvPr id="6" name="Shape 4"/>
          <p:cNvSpPr/>
          <p:nvPr/>
        </p:nvSpPr>
        <p:spPr>
          <a:xfrm>
            <a:off x="812800" y="4999992"/>
            <a:ext cx="3420507" cy="1045210"/>
          </a:xfrm>
          <a:prstGeom prst="roundRect">
            <a:avLst>
              <a:gd name="adj" fmla="val 9721"/>
            </a:avLst>
          </a:prstGeom>
          <a:solidFill>
            <a:srgbClr val="1F2E4A"/>
          </a:solidFill>
          <a:ln/>
        </p:spPr>
      </p:sp>
      <p:sp>
        <p:nvSpPr>
          <p:cNvPr id="7" name="Text 5"/>
          <p:cNvSpPr/>
          <p:nvPr/>
        </p:nvSpPr>
        <p:spPr>
          <a:xfrm>
            <a:off x="1003300" y="5190492"/>
            <a:ext cx="3130692"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6FA0FF"/>
                </a:solidFill>
                <a:latin typeface="JetBrains Mono" pitchFamily="49" charset="0"/>
                <a:ea typeface="JetBrains Mono" pitchFamily="49" charset="-122"/>
                <a:cs typeface="JetBrains Mono" pitchFamily="49" charset="-120"/>
              </a:rPr>
              <a:t>Priority 1</a:t>
            </a:r>
            <a:endParaRPr lang="en-US" sz="1050" dirty="0"/>
          </a:p>
        </p:txBody>
      </p:sp>
      <p:sp>
        <p:nvSpPr>
          <p:cNvPr id="8" name="Text 6"/>
          <p:cNvSpPr/>
          <p:nvPr/>
        </p:nvSpPr>
        <p:spPr>
          <a:xfrm>
            <a:off x="1003300" y="5427979"/>
            <a:ext cx="32300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Retest F-6 using F-8's fixed-token technique</a:t>
            </a:r>
            <a:endParaRPr lang="en-US" sz="1200" dirty="0"/>
          </a:p>
        </p:txBody>
      </p:sp>
      <p:sp>
        <p:nvSpPr>
          <p:cNvPr id="9" name="Shape 7"/>
          <p:cNvSpPr/>
          <p:nvPr/>
        </p:nvSpPr>
        <p:spPr>
          <a:xfrm>
            <a:off x="4385707" y="4999992"/>
            <a:ext cx="3420507" cy="1045210"/>
          </a:xfrm>
          <a:prstGeom prst="roundRect">
            <a:avLst>
              <a:gd name="adj" fmla="val 9721"/>
            </a:avLst>
          </a:prstGeom>
          <a:solidFill>
            <a:srgbClr val="1F2E4A"/>
          </a:solidFill>
          <a:ln/>
        </p:spPr>
      </p:sp>
      <p:sp>
        <p:nvSpPr>
          <p:cNvPr id="10" name="Text 8"/>
          <p:cNvSpPr/>
          <p:nvPr/>
        </p:nvSpPr>
        <p:spPr>
          <a:xfrm>
            <a:off x="4576207" y="5190492"/>
            <a:ext cx="3130692"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6FA0FF"/>
                </a:solidFill>
                <a:latin typeface="JetBrains Mono" pitchFamily="49" charset="0"/>
                <a:ea typeface="JetBrains Mono" pitchFamily="49" charset="-122"/>
                <a:cs typeface="JetBrains Mono" pitchFamily="49" charset="-120"/>
              </a:rPr>
              <a:t>Priority 2</a:t>
            </a:r>
            <a:endParaRPr lang="en-US" sz="1050" dirty="0"/>
          </a:p>
        </p:txBody>
      </p:sp>
      <p:sp>
        <p:nvSpPr>
          <p:cNvPr id="11" name="Text 9"/>
          <p:cNvSpPr/>
          <p:nvPr/>
        </p:nvSpPr>
        <p:spPr>
          <a:xfrm>
            <a:off x="4576207" y="5427979"/>
            <a:ext cx="31306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Add object-ownership &amp; role checks across /admin and /{resource}/{id}</a:t>
            </a:r>
            <a:endParaRPr lang="en-US" sz="1200" dirty="0"/>
          </a:p>
        </p:txBody>
      </p:sp>
      <p:sp>
        <p:nvSpPr>
          <p:cNvPr id="12" name="Shape 10"/>
          <p:cNvSpPr/>
          <p:nvPr/>
        </p:nvSpPr>
        <p:spPr>
          <a:xfrm>
            <a:off x="7958614" y="4999992"/>
            <a:ext cx="3420507" cy="1045210"/>
          </a:xfrm>
          <a:prstGeom prst="roundRect">
            <a:avLst>
              <a:gd name="adj" fmla="val 9721"/>
            </a:avLst>
          </a:prstGeom>
          <a:solidFill>
            <a:srgbClr val="1F2E4A"/>
          </a:solidFill>
          <a:ln/>
        </p:spPr>
      </p:sp>
      <p:sp>
        <p:nvSpPr>
          <p:cNvPr id="13" name="Text 11"/>
          <p:cNvSpPr/>
          <p:nvPr/>
        </p:nvSpPr>
        <p:spPr>
          <a:xfrm>
            <a:off x="8149114" y="5190492"/>
            <a:ext cx="3130692" cy="21209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6FA0FF"/>
                </a:solidFill>
                <a:latin typeface="JetBrains Mono" pitchFamily="49" charset="0"/>
                <a:ea typeface="JetBrains Mono" pitchFamily="49" charset="-122"/>
                <a:cs typeface="JetBrains Mono" pitchFamily="49" charset="-120"/>
              </a:rPr>
              <a:t>Priority 3</a:t>
            </a:r>
            <a:endParaRPr lang="en-US" sz="1050" dirty="0"/>
          </a:p>
        </p:txBody>
      </p:sp>
      <p:sp>
        <p:nvSpPr>
          <p:cNvPr id="14" name="Text 12"/>
          <p:cNvSpPr/>
          <p:nvPr/>
        </p:nvSpPr>
        <p:spPr>
          <a:xfrm>
            <a:off x="8149114" y="5427979"/>
            <a:ext cx="31306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5F8"/>
                </a:solidFill>
                <a:latin typeface="IBM Plex Sans" pitchFamily="34" charset="0"/>
                <a:ea typeface="IBM Plex Sans" pitchFamily="34" charset="-122"/>
                <a:cs typeface="IBM Plex Sans" pitchFamily="34" charset="-120"/>
              </a:rPr>
              <a:t>Centralize error handling to stop stack-trace leaks</a:t>
            </a:r>
            <a:endParaRPr lang="en-US" sz="1200" dirty="0"/>
          </a:p>
        </p:txBody>
      </p:sp>
    </p:spTree>
  </p:cSld>
  <p:clrMapOvr>
    <a:masterClrMapping/>
  </p:clrMapOvr>
</p:sld>
</file>

<file path=ppt/theme/theme1.xml><?xml version="1.0" encoding="utf-8"?>
<a:theme xmlns:a="http://schemas.openxmlformats.org/drawingml/2006/main" name="Advanced VAPT Report — OWASP Juice Shop">
  <a:themeElements>
    <a:clrScheme name="Advanced VAPT Report — OWASP Juice Shop">
      <a:dk1>
        <a:srgbClr val="142133"/>
      </a:dk1>
      <a:lt1>
        <a:srgbClr val="F5F6F4"/>
      </a:lt1>
      <a:dk2>
        <a:srgbClr val="4C5663"/>
      </a:dk2>
      <a:lt2>
        <a:srgbClr val="DFE1E1"/>
      </a:lt2>
      <a:accent1>
        <a:srgbClr val="51607A"/>
      </a:accent1>
      <a:accent2>
        <a:srgbClr val="2F5FCB"/>
      </a:accent2>
      <a:accent3>
        <a:srgbClr val="B2311C"/>
      </a:accent3>
      <a:accent4>
        <a:srgbClr val="C98A1B"/>
      </a:accent4>
      <a:accent5>
        <a:srgbClr val="6FA0FF"/>
      </a:accent5>
      <a:accent6>
        <a:srgbClr val="AFC0DA"/>
      </a:accent6>
      <a:hlink>
        <a:srgbClr val="0563C1"/>
      </a:hlink>
      <a:folHlink>
        <a:srgbClr val="954F72"/>
      </a:folHlink>
    </a:clrScheme>
    <a:fontScheme name="Advanced VAPT Report — OWASP Juice Sho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VAPT Report — OWASP Juice Shop</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2026-10-28T07:34:41Z</dcterms:created>
  <dcterms:modified xsi:type="dcterms:W3CDTF">2026-10-28T07:34:41Z</dcterms:modified>
</cp:coreProperties>
</file>